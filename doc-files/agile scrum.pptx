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9" r:id="rId2"/>
    <p:sldId id="277" r:id="rId3"/>
    <p:sldId id="261" r:id="rId4"/>
    <p:sldId id="262" r:id="rId5"/>
    <p:sldId id="263" r:id="rId6"/>
    <p:sldId id="264" r:id="rId7"/>
    <p:sldId id="265" r:id="rId8"/>
    <p:sldId id="266" r:id="rId9"/>
    <p:sldId id="267" r:id="rId10"/>
    <p:sldId id="268" r:id="rId11"/>
    <p:sldId id="269" r:id="rId12"/>
    <p:sldId id="270" r:id="rId13"/>
    <p:sldId id="271" r:id="rId14"/>
    <p:sldId id="260" r:id="rId15"/>
    <p:sldId id="275" r:id="rId16"/>
    <p:sldId id="274" r:id="rId17"/>
    <p:sldId id="276" r:id="rId18"/>
    <p:sldId id="258" r:id="rId19"/>
    <p:sldId id="257" r:id="rId20"/>
    <p:sldId id="256" r:id="rId21"/>
    <p:sldId id="273" r:id="rId22"/>
    <p:sldId id="272"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65950" autoAdjust="0"/>
  </p:normalViewPr>
  <p:slideViewPr>
    <p:cSldViewPr>
      <p:cViewPr varScale="1">
        <p:scale>
          <a:sx n="47" d="100"/>
          <a:sy n="47" d="100"/>
        </p:scale>
        <p:origin x="-117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EE59F1-7A54-46E1-B700-0AE7CFC1DF8F}" type="datetimeFigureOut">
              <a:rPr lang="en-US" smtClean="0"/>
              <a:t>1/22/2019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33A8AA-D430-487C-8A1B-5B85F3A0917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Agile: able to move quickly and easily.</a:t>
            </a:r>
          </a:p>
          <a:p>
            <a:r>
              <a:rPr lang="en-US" sz="1200" b="0" i="0" kern="1200" dirty="0" smtClean="0">
                <a:solidFill>
                  <a:schemeClr val="tx1"/>
                </a:solidFill>
                <a:latin typeface="+mn-lt"/>
                <a:ea typeface="+mn-ea"/>
                <a:cs typeface="+mn-cs"/>
              </a:rPr>
              <a:t>Agile is a process that helps teams provide quick and unpredictable responses to the feedback they receive on their project.</a:t>
            </a:r>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Agile: able to move quickly and easily.</a:t>
            </a:r>
          </a:p>
          <a:p>
            <a:r>
              <a:rPr lang="en-US" sz="1200" b="0" i="0" kern="1200" dirty="0" smtClean="0">
                <a:solidFill>
                  <a:schemeClr val="tx1"/>
                </a:solidFill>
                <a:latin typeface="+mn-lt"/>
                <a:ea typeface="+mn-ea"/>
                <a:cs typeface="+mn-cs"/>
              </a:rPr>
              <a:t>Agile is a process that helps teams provide quick and unpredictable responses to the feedback they receive on their project.</a:t>
            </a:r>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Agile: able to move quickly and easily.</a:t>
            </a:r>
          </a:p>
          <a:p>
            <a:r>
              <a:rPr lang="en-US" sz="1200" b="0" i="0" kern="1200" smtClean="0">
                <a:solidFill>
                  <a:schemeClr val="tx1"/>
                </a:solidFill>
                <a:latin typeface="+mn-lt"/>
                <a:ea typeface="+mn-ea"/>
                <a:cs typeface="+mn-cs"/>
              </a:rPr>
              <a:t>Agile is a process that helps teams provide quick and unpredictable responses to the feedback they receive on their project.</a:t>
            </a:r>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Agile: able to move quickly and easily.</a:t>
            </a:r>
          </a:p>
          <a:p>
            <a:r>
              <a:rPr lang="en-US" sz="1200" b="0" i="0" kern="1200" smtClean="0">
                <a:solidFill>
                  <a:schemeClr val="tx1"/>
                </a:solidFill>
                <a:latin typeface="+mn-lt"/>
                <a:ea typeface="+mn-ea"/>
                <a:cs typeface="+mn-cs"/>
              </a:rPr>
              <a:t>Agile is a process that helps teams provide quick and unpredictable responses to the feedback they receive on their project.</a:t>
            </a:r>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One of the differences between agile and waterfall is that testing of the software is conducted at different stages during the software development lifecycle. In the Waterfall model, there is always a separate testing phase near the completion of an implementation phase. However, in Agile and especially Extreme programming, testing is usually done concurrently with coding, or at least, testing jobs start in early iterations.</a:t>
            </a:r>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One of the differences between agile and waterfall is that testing of the software is conducted at different stages during the software development lifecycle. In the Waterfall model, there is always a separate testing phase near the completion of an implementation phase. However, in Agile and especially Extreme programming, testing is usually done concurrently with coding, or at least, testing jobs start in early iterations.</a:t>
            </a:r>
            <a:endParaRPr lang="en-US" smtClean="0"/>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"Working software over comprehensive documentation" as "We want to spend all our time coding. Remember, real programmers don’t write documentation."</a:t>
            </a:r>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1. Adaptive Software Development (ASD)</a:t>
            </a:r>
          </a:p>
          <a:p>
            <a:r>
              <a:rPr lang="en-US" dirty="0" smtClean="0"/>
              <a:t>2. Agile Modeling</a:t>
            </a:r>
          </a:p>
          <a:p>
            <a:r>
              <a:rPr lang="en-US" dirty="0" smtClean="0"/>
              <a:t>3. Agile Unified Process (AUP)</a:t>
            </a:r>
          </a:p>
          <a:p>
            <a:r>
              <a:rPr lang="en-US" dirty="0" smtClean="0"/>
              <a:t>4. Crystal Methods (Crystal Clear)</a:t>
            </a:r>
          </a:p>
          <a:p>
            <a:r>
              <a:rPr lang="en-US" dirty="0" smtClean="0"/>
              <a:t>5. Disciplined Agile Delivery</a:t>
            </a:r>
          </a:p>
          <a:p>
            <a:r>
              <a:rPr lang="en-US" dirty="0" smtClean="0"/>
              <a:t>6. Dynamic Systems Development Method (DSDM)</a:t>
            </a:r>
          </a:p>
          <a:p>
            <a:r>
              <a:rPr lang="en-US" dirty="0" smtClean="0"/>
              <a:t>7. Extreme Programming (XP)</a:t>
            </a:r>
          </a:p>
          <a:p>
            <a:r>
              <a:rPr lang="en-US" dirty="0" smtClean="0"/>
              <a:t>8. Feature Driven Development (FDD)</a:t>
            </a:r>
          </a:p>
          <a:p>
            <a:r>
              <a:rPr lang="en-US" dirty="0" smtClean="0"/>
              <a:t>9. Lean software development</a:t>
            </a:r>
          </a:p>
          <a:p>
            <a:r>
              <a:rPr lang="en-US" dirty="0" smtClean="0"/>
              <a:t>10. </a:t>
            </a:r>
            <a:r>
              <a:rPr lang="en-US" dirty="0" err="1" smtClean="0"/>
              <a:t>Kanban</a:t>
            </a:r>
            <a:endParaRPr lang="en-US" dirty="0" smtClean="0"/>
          </a:p>
          <a:p>
            <a:r>
              <a:rPr lang="en-US" dirty="0" smtClean="0"/>
              <a:t>11. Scrum</a:t>
            </a:r>
          </a:p>
          <a:p>
            <a:r>
              <a:rPr lang="en-US" dirty="0" smtClean="0"/>
              <a:t>12. Scrum-ban</a:t>
            </a:r>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fontAlgn="base"/>
            <a:r>
              <a:rPr lang="en-US" sz="1200" b="0" i="0" kern="1200" dirty="0" smtClean="0">
                <a:solidFill>
                  <a:schemeClr val="tx1"/>
                </a:solidFill>
                <a:latin typeface="+mn-lt"/>
                <a:ea typeface="+mn-ea"/>
                <a:cs typeface="+mn-cs"/>
              </a:rPr>
              <a:t>https://luis-goncalves.com/what-is-agile-methodology/</a:t>
            </a:r>
          </a:p>
          <a:p>
            <a:pPr fontAlgn="base"/>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Top software developers developed agile meetings. After repeatedly experiencing challenges and limitations from traditional waterfall development in real life projects, they wanted to create a more efficient process for analyzing project development. The approach they used addresses the issues regarding the philosophies and processes of traditional methods directly.</a:t>
            </a:r>
          </a:p>
          <a:p>
            <a:pPr fontAlgn="base"/>
            <a:r>
              <a:rPr lang="en-US" sz="1200" b="0" i="0" kern="1200" dirty="0" smtClean="0">
                <a:solidFill>
                  <a:schemeClr val="tx1"/>
                </a:solidFill>
                <a:latin typeface="+mn-lt"/>
                <a:ea typeface="+mn-ea"/>
                <a:cs typeface="+mn-cs"/>
              </a:rPr>
              <a:t>There are many </a:t>
            </a:r>
            <a:r>
              <a:rPr lang="en-US" sz="1200" b="1" i="0" kern="1200" dirty="0" smtClean="0">
                <a:solidFill>
                  <a:schemeClr val="tx1"/>
                </a:solidFill>
                <a:latin typeface="+mn-lt"/>
                <a:ea typeface="+mn-ea"/>
                <a:cs typeface="+mn-cs"/>
              </a:rPr>
              <a:t>benefits to the agile software development.</a:t>
            </a:r>
            <a:r>
              <a:rPr lang="en-US" sz="1200" b="0" i="0" kern="1200" dirty="0" smtClean="0">
                <a:solidFill>
                  <a:schemeClr val="tx1"/>
                </a:solidFill>
                <a:latin typeface="+mn-lt"/>
                <a:ea typeface="+mn-ea"/>
                <a:cs typeface="+mn-cs"/>
              </a:rPr>
              <a:t> They include:</a:t>
            </a:r>
          </a:p>
          <a:p>
            <a:pPr fontAlgn="base"/>
            <a:r>
              <a:rPr lang="en-US" sz="1200" b="1" i="0" kern="1200" dirty="0" smtClean="0">
                <a:solidFill>
                  <a:schemeClr val="tx1"/>
                </a:solidFill>
                <a:latin typeface="+mn-lt"/>
                <a:ea typeface="+mn-ea"/>
                <a:cs typeface="+mn-cs"/>
              </a:rPr>
              <a:t>Stakeholder Engagement and Satisfaction </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The agile process creates many opportunities throughout each sprint meeting for genuine engagement between the team and the stakeholders. Because the client is actively involved in the entire project, there is a continuous level of collaboration between all parties. This gives the team a chance to fully understand the client’s vision. By delivering high quality, working software frequently, the stakeholders quickly develop a trusting and authentic relationship with the team. This also further promotes engagement between the client and the team.</a:t>
            </a:r>
          </a:p>
          <a:p>
            <a:pPr fontAlgn="base"/>
            <a:r>
              <a:rPr lang="en-US" sz="1200" b="1" i="0" kern="1200" dirty="0" smtClean="0">
                <a:solidFill>
                  <a:schemeClr val="tx1"/>
                </a:solidFill>
                <a:latin typeface="+mn-lt"/>
                <a:ea typeface="+mn-ea"/>
                <a:cs typeface="+mn-cs"/>
              </a:rPr>
              <a:t>Transparency </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The agile approach actively involves the client throughout the entire project including the iteration planning, review sessions, and new feature builds in the software. Clients, however, must understand that during the transparency of the project, they are seeing a work in progress and not the final product.</a:t>
            </a:r>
          </a:p>
          <a:p>
            <a:pPr fontAlgn="base"/>
            <a:r>
              <a:rPr lang="en-US" sz="1200" b="1" i="0" kern="1200" dirty="0" smtClean="0">
                <a:solidFill>
                  <a:schemeClr val="tx1"/>
                </a:solidFill>
                <a:latin typeface="+mn-lt"/>
                <a:ea typeface="+mn-ea"/>
                <a:cs typeface="+mn-cs"/>
              </a:rPr>
              <a:t>Early and Predictable Delivery </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Sprints are held on a fixed schedule of 1 to 4 weeks duration. By using this time-boxed method, predictability is high as new features can be delivered to the stakeholders quickly and frequently. It also allows the team to beta test or release the software sooner if it has sufficient business value.</a:t>
            </a:r>
          </a:p>
          <a:p>
            <a:pPr fontAlgn="base"/>
            <a:r>
              <a:rPr lang="en-US" sz="1200" b="1" i="0" kern="1200" dirty="0" smtClean="0">
                <a:solidFill>
                  <a:schemeClr val="tx1"/>
                </a:solidFill>
                <a:latin typeface="+mn-lt"/>
                <a:ea typeface="+mn-ea"/>
                <a:cs typeface="+mn-cs"/>
              </a:rPr>
              <a:t>Predictable Costs and Schedule</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Because the Sprints are on a fixed schedule, the costs are limited and predictable, and based on the amount of work done. By combining the estimated costs before each Sprint, the client will better understand the approximate costs of each feature. This offers more improved decision-making opportunities when prioritizing the features or adding iterations.</a:t>
            </a:r>
          </a:p>
          <a:p>
            <a:pPr fontAlgn="base"/>
            <a:r>
              <a:rPr lang="en-US" sz="1200" b="1" i="0" kern="1200" dirty="0" smtClean="0">
                <a:solidFill>
                  <a:schemeClr val="tx1"/>
                </a:solidFill>
                <a:latin typeface="+mn-lt"/>
                <a:ea typeface="+mn-ea"/>
                <a:cs typeface="+mn-cs"/>
              </a:rPr>
              <a:t>Flexible Prioritization</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Scrum methodologies allow more flexibility by prioritizing the customer-driven features. The team has more control in managing the shippable units of work with each sprint boundary; making continued progress towards the final product milestone. To get a prompt RIO from the engineering, the work needs to be shipped early to the customers so they will realize the value from the features.</a:t>
            </a:r>
          </a:p>
          <a:p>
            <a:pPr fontAlgn="base"/>
            <a:r>
              <a:rPr lang="en-US" sz="1200" b="1" i="0" kern="1200" dirty="0" smtClean="0">
                <a:solidFill>
                  <a:schemeClr val="tx1"/>
                </a:solidFill>
                <a:latin typeface="+mn-lt"/>
                <a:ea typeface="+mn-ea"/>
                <a:cs typeface="+mn-cs"/>
              </a:rPr>
              <a:t>Allows for Change</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While the focus should be to deliver the agreed subset of the products features, Agile processes create an opportunity to continually reprioritize and refine the product backlog. These changes can be added to the next iteration so the new changes can be introduced within a few weeks.</a:t>
            </a:r>
          </a:p>
          <a:p>
            <a:pPr fontAlgn="base"/>
            <a:r>
              <a:rPr lang="en-US" sz="1200" b="1" i="0" kern="1200" dirty="0" smtClean="0">
                <a:solidFill>
                  <a:schemeClr val="tx1"/>
                </a:solidFill>
                <a:latin typeface="+mn-lt"/>
                <a:ea typeface="+mn-ea"/>
                <a:cs typeface="+mn-cs"/>
              </a:rPr>
              <a:t>Focuses on Business Value</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The team has a better understanding of what is most important for the client’s business and can deliver features that give the most value to the business.</a:t>
            </a:r>
          </a:p>
          <a:p>
            <a:pPr fontAlgn="base"/>
            <a:r>
              <a:rPr lang="en-US" sz="1200" b="1" i="0" kern="1200" dirty="0" smtClean="0">
                <a:solidFill>
                  <a:schemeClr val="tx1"/>
                </a:solidFill>
                <a:latin typeface="+mn-lt"/>
                <a:ea typeface="+mn-ea"/>
                <a:cs typeface="+mn-cs"/>
              </a:rPr>
              <a:t>Focuses on Users </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The user’s stories are commonly used to define the product features as they relate to business-focused acceptance criteria. By focusing on the user’s needs, each feature delivers real value and not just an IT component. It provides a better opportunity to gain valuable feedback through beta testing the software after each Sprint. This provides vital feedback earlier in the project so that changes can be made as needed.</a:t>
            </a:r>
          </a:p>
          <a:p>
            <a:pPr fontAlgn="base"/>
            <a:r>
              <a:rPr lang="en-US" sz="1200" b="1" i="0" kern="1200" dirty="0" smtClean="0">
                <a:solidFill>
                  <a:schemeClr val="tx1"/>
                </a:solidFill>
                <a:latin typeface="+mn-lt"/>
                <a:ea typeface="+mn-ea"/>
                <a:cs typeface="+mn-cs"/>
              </a:rPr>
              <a:t>Improves Quality </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The projects are broken down into manageable units, making it easier for the team or focus on high-quality development, testing, and collaboration. By creating builds and conducts tests or reviews throughout the iteration, defects and mismatches can be found and fixed early, improving over-all quality.</a:t>
            </a:r>
          </a:p>
          <a:p>
            <a:pPr fontAlgn="base"/>
            <a:r>
              <a:rPr lang="en-US" sz="1200" b="1" i="0" kern="1200" dirty="0" smtClean="0">
                <a:solidFill>
                  <a:schemeClr val="tx1"/>
                </a:solidFill>
                <a:latin typeface="+mn-lt"/>
                <a:ea typeface="+mn-ea"/>
                <a:cs typeface="+mn-cs"/>
              </a:rPr>
              <a:t>It gives your team Purpose</a:t>
            </a:r>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Most agile processes focus on creating a shared sense of ownership and goals for all team members. This to gives your team purpose rather than creating a false sense of urgency. Purposeful teams are more productive and challenge themselves to be faster and more efficient.</a:t>
            </a:r>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fontAlgn="base"/>
            <a:r>
              <a:rPr lang="en-US" sz="1200" b="0" i="0" kern="1200" dirty="0" smtClean="0">
                <a:solidFill>
                  <a:schemeClr val="tx1"/>
                </a:solidFill>
                <a:latin typeface="+mn-lt"/>
                <a:ea typeface="+mn-ea"/>
                <a:cs typeface="+mn-cs"/>
              </a:rPr>
              <a:t>https://luis-goncalves.com/what-is-agile-methodology/</a:t>
            </a:r>
          </a:p>
          <a:p>
            <a:pPr fontAlgn="base"/>
            <a:endParaRPr lang="en-US" sz="1200" b="0" i="0" kern="1200" dirty="0" smtClean="0">
              <a:solidFill>
                <a:schemeClr val="tx1"/>
              </a:solidFill>
              <a:latin typeface="+mn-lt"/>
              <a:ea typeface="+mn-ea"/>
              <a:cs typeface="+mn-cs"/>
            </a:endParaRPr>
          </a:p>
          <a:p>
            <a:pPr fontAlgn="base"/>
            <a:r>
              <a:rPr lang="en-US" sz="1200" b="0" i="0" kern="1200" dirty="0" smtClean="0">
                <a:solidFill>
                  <a:schemeClr val="tx1"/>
                </a:solidFill>
                <a:latin typeface="+mn-lt"/>
                <a:ea typeface="+mn-ea"/>
                <a:cs typeface="+mn-cs"/>
              </a:rPr>
              <a:t> </a:t>
            </a:r>
          </a:p>
          <a:p>
            <a:pPr fontAlgn="base"/>
            <a:r>
              <a:rPr lang="en-US" sz="1200" b="0" i="1" kern="1200" dirty="0" smtClean="0">
                <a:solidFill>
                  <a:schemeClr val="tx1"/>
                </a:solidFill>
                <a:latin typeface="+mn-lt"/>
                <a:ea typeface="+mn-ea"/>
                <a:cs typeface="+mn-cs"/>
              </a:rPr>
              <a:t>41% were better in terms of overall business value</a:t>
            </a:r>
            <a:endParaRPr lang="en-US" sz="1200" b="0" i="0" kern="1200" dirty="0" smtClean="0">
              <a:solidFill>
                <a:schemeClr val="tx1"/>
              </a:solidFill>
              <a:latin typeface="+mn-lt"/>
              <a:ea typeface="+mn-ea"/>
              <a:cs typeface="+mn-cs"/>
            </a:endParaRPr>
          </a:p>
          <a:p>
            <a:pPr fontAlgn="base"/>
            <a:r>
              <a:rPr lang="en-US" sz="1200" b="0" i="1" kern="1200" dirty="0" smtClean="0">
                <a:solidFill>
                  <a:schemeClr val="tx1"/>
                </a:solidFill>
                <a:latin typeface="+mn-lt"/>
                <a:ea typeface="+mn-ea"/>
                <a:cs typeface="+mn-cs"/>
              </a:rPr>
              <a:t>83% showed quicker time-to-market speeds</a:t>
            </a:r>
            <a:endParaRPr lang="en-US" sz="1200" b="0" i="0" kern="1200" dirty="0" smtClean="0">
              <a:solidFill>
                <a:schemeClr val="tx1"/>
              </a:solidFill>
              <a:latin typeface="+mn-lt"/>
              <a:ea typeface="+mn-ea"/>
              <a:cs typeface="+mn-cs"/>
            </a:endParaRPr>
          </a:p>
          <a:p>
            <a:pPr fontAlgn="base"/>
            <a:r>
              <a:rPr lang="en-US" sz="1200" b="0" i="1" kern="1200" dirty="0" smtClean="0">
                <a:solidFill>
                  <a:schemeClr val="tx1"/>
                </a:solidFill>
                <a:latin typeface="+mn-lt"/>
                <a:ea typeface="+mn-ea"/>
                <a:cs typeface="+mn-cs"/>
              </a:rPr>
              <a:t>50% were higher in quality</a:t>
            </a:r>
            <a:endParaRPr lang="en-US" sz="1200" b="0" i="0" kern="1200" dirty="0" smtClean="0">
              <a:solidFill>
                <a:schemeClr val="tx1"/>
              </a:solidFill>
              <a:latin typeface="+mn-lt"/>
              <a:ea typeface="+mn-ea"/>
              <a:cs typeface="+mn-cs"/>
            </a:endParaRPr>
          </a:p>
          <a:p>
            <a:pPr fontAlgn="base"/>
            <a:r>
              <a:rPr lang="en-US" sz="1200" b="0" i="1" kern="1200" dirty="0" smtClean="0">
                <a:solidFill>
                  <a:schemeClr val="tx1"/>
                </a:solidFill>
                <a:latin typeface="+mn-lt"/>
                <a:ea typeface="+mn-ea"/>
                <a:cs typeface="+mn-cs"/>
              </a:rPr>
              <a:t>50% were less costly</a:t>
            </a:r>
            <a:endParaRPr lang="en-US" sz="1200" b="0" i="0" kern="1200" dirty="0" smtClean="0">
              <a:solidFill>
                <a:schemeClr val="tx1"/>
              </a:solidFill>
              <a:latin typeface="+mn-lt"/>
              <a:ea typeface="+mn-ea"/>
              <a:cs typeface="+mn-cs"/>
            </a:endParaRPr>
          </a:p>
          <a:p>
            <a:pPr fontAlgn="base"/>
            <a:r>
              <a:rPr lang="en-US" sz="1200" b="0" i="1" kern="1200" dirty="0" smtClean="0">
                <a:solidFill>
                  <a:schemeClr val="tx1"/>
                </a:solidFill>
                <a:latin typeface="+mn-lt"/>
                <a:ea typeface="+mn-ea"/>
                <a:cs typeface="+mn-cs"/>
              </a:rPr>
              <a:t>83% were more productive</a:t>
            </a:r>
            <a:endParaRPr lang="en-US" sz="1200" b="0" i="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cap="all" dirty="0" smtClean="0">
                <a:solidFill>
                  <a:schemeClr val="tx1"/>
                </a:solidFill>
                <a:latin typeface="+mn-lt"/>
                <a:ea typeface="+mn-ea"/>
                <a:cs typeface="+mn-cs"/>
              </a:rPr>
              <a:t>RUGBY</a:t>
            </a:r>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an ordered formation of players, used to restart play, in which the forwards of a team form up with arms interlocked and heads down, and push forward against a similar group from the opposing side. The ball is thrown into the scrum and the players try to gain possession of it by kicking it backwards towards their own side.</a:t>
            </a:r>
          </a:p>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33A8AA-D430-487C-8A1B-5B85F3A09173}" type="slidenum">
              <a:rPr lang="en-US" smtClean="0"/>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smtClean="0"/>
              <a:t>Agile and Scrum?</a:t>
            </a:r>
            <a:endParaRPr lang="en-US" dirty="0"/>
          </a:p>
        </p:txBody>
      </p:sp>
      <p:sp>
        <p:nvSpPr>
          <p:cNvPr id="3" name="Subtitle 2"/>
          <p:cNvSpPr>
            <a:spLocks noGrp="1"/>
          </p:cNvSpPr>
          <p:nvPr>
            <p:ph idx="1"/>
          </p:nvPr>
        </p:nvSpPr>
        <p:spPr>
          <a:xfrm>
            <a:off x="457200" y="1371600"/>
            <a:ext cx="8229600" cy="4754563"/>
          </a:xfrm>
        </p:spPr>
        <p:txBody>
          <a:bodyPr>
            <a:norm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smtClean="0"/>
              <a:t>Agile?</a:t>
            </a:r>
            <a:endParaRPr lang="en-US" dirty="0"/>
          </a:p>
        </p:txBody>
      </p:sp>
      <p:sp>
        <p:nvSpPr>
          <p:cNvPr id="3" name="Subtitle 2"/>
          <p:cNvSpPr>
            <a:spLocks noGrp="1"/>
          </p:cNvSpPr>
          <p:nvPr>
            <p:ph idx="1"/>
          </p:nvPr>
        </p:nvSpPr>
        <p:spPr>
          <a:xfrm>
            <a:off x="457200" y="1371600"/>
            <a:ext cx="8229600" cy="4754563"/>
          </a:xfrm>
        </p:spPr>
        <p:txBody>
          <a:bodyPr>
            <a:normAutofit/>
          </a:bodyPr>
          <a:lstStyle/>
          <a:p>
            <a:r>
              <a:rPr lang="en-US" sz="2400" dirty="0" smtClean="0"/>
              <a:t>Agile: able to move quickly and easily</a:t>
            </a:r>
            <a:r>
              <a:rPr lang="en-US" sz="2400" dirty="0" smtClean="0"/>
              <a:t>.</a:t>
            </a:r>
          </a:p>
          <a:p>
            <a:r>
              <a:rPr lang="en-US" sz="2400" dirty="0" smtClean="0"/>
              <a:t>agile development is a different way of managing </a:t>
            </a:r>
            <a:r>
              <a:rPr lang="en-US" sz="2400" dirty="0" smtClean="0"/>
              <a:t>development </a:t>
            </a:r>
            <a:r>
              <a:rPr lang="en-US" sz="2400" dirty="0" smtClean="0"/>
              <a:t>teams and projects.</a:t>
            </a:r>
          </a:p>
          <a:p>
            <a:r>
              <a:rPr lang="en-US" sz="2400" dirty="0" smtClean="0"/>
              <a:t> </a:t>
            </a:r>
            <a:r>
              <a:rPr lang="en-US" sz="2400" dirty="0" smtClean="0"/>
              <a:t>Agile is a process that helps teams provide quick and unpredictable responses to the feedback they receive on their project. </a:t>
            </a:r>
            <a:endParaRPr lang="en-US" sz="2400" dirty="0" smtClean="0"/>
          </a:p>
          <a:p>
            <a:r>
              <a:rPr lang="en-US" sz="2400" dirty="0" smtClean="0"/>
              <a:t>Iterative approach</a:t>
            </a:r>
            <a:endParaRPr lang="en-US" dirty="0"/>
          </a:p>
        </p:txBody>
      </p:sp>
      <p:pic>
        <p:nvPicPr>
          <p:cNvPr id="1026" name="Picture 2" descr="C:\Users\Ashish GC\Google Drive\1. Learning  &amp; Out OF Boundary\Agile\images\incrementally-over-all-at-once.png"/>
          <p:cNvPicPr>
            <a:picLocks noChangeAspect="1" noChangeArrowheads="1"/>
          </p:cNvPicPr>
          <p:nvPr/>
        </p:nvPicPr>
        <p:blipFill>
          <a:blip r:embed="rId3"/>
          <a:srcRect/>
          <a:stretch>
            <a:fillRect/>
          </a:stretch>
        </p:blipFill>
        <p:spPr bwMode="auto">
          <a:xfrm>
            <a:off x="3619500" y="3733800"/>
            <a:ext cx="5524500" cy="249555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a:t>
            </a:r>
            <a:r>
              <a:rPr lang="en-US" dirty="0" smtClean="0"/>
              <a:t> manifesto</a:t>
            </a:r>
            <a:endParaRPr lang="en-US" dirty="0"/>
          </a:p>
        </p:txBody>
      </p:sp>
      <p:sp>
        <p:nvSpPr>
          <p:cNvPr id="3" name="Subtitle 2"/>
          <p:cNvSpPr>
            <a:spLocks noGrp="1"/>
          </p:cNvSpPr>
          <p:nvPr>
            <p:ph idx="1"/>
          </p:nvPr>
        </p:nvSpPr>
        <p:spPr>
          <a:xfrm>
            <a:off x="457200" y="1371600"/>
            <a:ext cx="8229600" cy="4754563"/>
          </a:xfrm>
        </p:spPr>
        <p:txBody>
          <a:bodyPr>
            <a:normAutofit fontScale="77500" lnSpcReduction="20000"/>
          </a:bodyPr>
          <a:lstStyle/>
          <a:p>
            <a:r>
              <a:rPr lang="en-US" dirty="0" smtClean="0"/>
              <a:t>Individuals and interactions over processes and tools</a:t>
            </a:r>
          </a:p>
          <a:p>
            <a:pPr lvl="1"/>
            <a:r>
              <a:rPr lang="en-US" dirty="0" smtClean="0"/>
              <a:t>in agile development, self-organization and motivation are important, as are</a:t>
            </a:r>
          </a:p>
          <a:p>
            <a:pPr lvl="1"/>
            <a:r>
              <a:rPr lang="en-US" dirty="0" smtClean="0"/>
              <a:t>interactions like co-location and pair programming.</a:t>
            </a:r>
          </a:p>
          <a:p>
            <a:r>
              <a:rPr lang="en-US" dirty="0" smtClean="0"/>
              <a:t>Working </a:t>
            </a:r>
            <a:r>
              <a:rPr lang="en-US" dirty="0" smtClean="0"/>
              <a:t>software over comprehensive documentation</a:t>
            </a:r>
          </a:p>
          <a:p>
            <a:pPr lvl="1"/>
            <a:r>
              <a:rPr lang="en-US" dirty="0" smtClean="0"/>
              <a:t>working </a:t>
            </a:r>
            <a:r>
              <a:rPr lang="en-US" dirty="0" smtClean="0"/>
              <a:t>software will be more useful and welcome than just </a:t>
            </a:r>
            <a:r>
              <a:rPr lang="en-US" dirty="0" smtClean="0"/>
              <a:t>presenting documents </a:t>
            </a:r>
            <a:r>
              <a:rPr lang="en-US" dirty="0" smtClean="0"/>
              <a:t>to clients in meetings.</a:t>
            </a:r>
          </a:p>
          <a:p>
            <a:r>
              <a:rPr lang="en-US" dirty="0" smtClean="0"/>
              <a:t>Customer </a:t>
            </a:r>
            <a:r>
              <a:rPr lang="en-US" dirty="0" smtClean="0"/>
              <a:t>collaboration over contract negotiation</a:t>
            </a:r>
          </a:p>
          <a:p>
            <a:pPr lvl="1"/>
            <a:r>
              <a:rPr lang="en-US" dirty="0" smtClean="0"/>
              <a:t>requirements </a:t>
            </a:r>
            <a:r>
              <a:rPr lang="en-US" dirty="0" smtClean="0"/>
              <a:t>cannot be fully collected at the beginning of the </a:t>
            </a:r>
            <a:r>
              <a:rPr lang="en-US" dirty="0" smtClean="0"/>
              <a:t>software development </a:t>
            </a:r>
            <a:r>
              <a:rPr lang="en-US" dirty="0" smtClean="0"/>
              <a:t>cycle, therefore continuous customer or </a:t>
            </a:r>
            <a:r>
              <a:rPr lang="en-US" dirty="0" smtClean="0"/>
              <a:t>stakeholder involvement </a:t>
            </a:r>
            <a:r>
              <a:rPr lang="en-US" dirty="0" smtClean="0"/>
              <a:t>is very important.</a:t>
            </a:r>
          </a:p>
          <a:p>
            <a:r>
              <a:rPr lang="en-US" dirty="0" smtClean="0"/>
              <a:t>Responding </a:t>
            </a:r>
            <a:r>
              <a:rPr lang="en-US" dirty="0" smtClean="0"/>
              <a:t>to change over following a plan</a:t>
            </a:r>
          </a:p>
          <a:p>
            <a:pPr lvl="1"/>
            <a:r>
              <a:rPr lang="en-US" dirty="0" smtClean="0"/>
              <a:t>agile </a:t>
            </a:r>
            <a:r>
              <a:rPr lang="en-US" dirty="0" smtClean="0"/>
              <a:t>development is focused on quick responses to change and </a:t>
            </a:r>
            <a:r>
              <a:rPr lang="en-US" dirty="0" smtClean="0"/>
              <a:t>continuous development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principles</a:t>
            </a:r>
            <a:endParaRPr lang="en-US" dirty="0"/>
          </a:p>
        </p:txBody>
      </p:sp>
      <p:sp>
        <p:nvSpPr>
          <p:cNvPr id="3" name="Subtitle 2"/>
          <p:cNvSpPr>
            <a:spLocks noGrp="1"/>
          </p:cNvSpPr>
          <p:nvPr>
            <p:ph idx="1"/>
          </p:nvPr>
        </p:nvSpPr>
        <p:spPr>
          <a:xfrm>
            <a:off x="457200" y="1371600"/>
            <a:ext cx="8229600" cy="4754563"/>
          </a:xfrm>
        </p:spPr>
        <p:txBody>
          <a:bodyPr>
            <a:normAutofit fontScale="62500" lnSpcReduction="20000"/>
          </a:bodyPr>
          <a:lstStyle/>
          <a:p>
            <a:pPr>
              <a:buNone/>
            </a:pPr>
            <a:r>
              <a:rPr lang="en-US" dirty="0" smtClean="0"/>
              <a:t>1. Customer satisfaction by rapid delivery of useful software</a:t>
            </a:r>
          </a:p>
          <a:p>
            <a:pPr>
              <a:buNone/>
            </a:pPr>
            <a:r>
              <a:rPr lang="en-US" dirty="0" smtClean="0"/>
              <a:t>2. Welcome changing requirements, even late in development</a:t>
            </a:r>
          </a:p>
          <a:p>
            <a:pPr>
              <a:buNone/>
            </a:pPr>
            <a:r>
              <a:rPr lang="en-US" dirty="0" smtClean="0"/>
              <a:t>3. Working software is delivered frequently (weeks rather than months)</a:t>
            </a:r>
          </a:p>
          <a:p>
            <a:pPr>
              <a:buNone/>
            </a:pPr>
            <a:r>
              <a:rPr lang="en-US" dirty="0" smtClean="0"/>
              <a:t>4. Close, daily cooperation between business people and developers</a:t>
            </a:r>
          </a:p>
          <a:p>
            <a:pPr>
              <a:buNone/>
            </a:pPr>
            <a:r>
              <a:rPr lang="en-US" dirty="0" smtClean="0"/>
              <a:t>5. Projects are built around motivated individuals, who should be trusted</a:t>
            </a:r>
          </a:p>
          <a:p>
            <a:pPr>
              <a:buNone/>
            </a:pPr>
            <a:r>
              <a:rPr lang="en-US" dirty="0" smtClean="0"/>
              <a:t>6. Face-to-face conversation is the best form of communication (co-location)</a:t>
            </a:r>
          </a:p>
          <a:p>
            <a:pPr>
              <a:buNone/>
            </a:pPr>
            <a:r>
              <a:rPr lang="en-US" dirty="0" smtClean="0"/>
              <a:t>7. Working software is the principal measure of progress</a:t>
            </a:r>
          </a:p>
          <a:p>
            <a:pPr>
              <a:buNone/>
            </a:pPr>
            <a:r>
              <a:rPr lang="en-US" dirty="0" smtClean="0"/>
              <a:t>8. Sustainable development, able to maintain a constant pace</a:t>
            </a:r>
          </a:p>
          <a:p>
            <a:pPr>
              <a:buNone/>
            </a:pPr>
            <a:r>
              <a:rPr lang="en-US" dirty="0" smtClean="0"/>
              <a:t>9. Continuous attention to technical excellence and good design</a:t>
            </a:r>
          </a:p>
          <a:p>
            <a:pPr>
              <a:buNone/>
            </a:pPr>
            <a:r>
              <a:rPr lang="en-US" dirty="0" smtClean="0"/>
              <a:t>10. Simplicity—the art of maximizing the amount of work not done—is essential</a:t>
            </a:r>
          </a:p>
          <a:p>
            <a:pPr>
              <a:buNone/>
            </a:pPr>
            <a:r>
              <a:rPr lang="en-US" dirty="0" smtClean="0"/>
              <a:t>11. Self-organizing teams</a:t>
            </a:r>
          </a:p>
          <a:p>
            <a:pPr>
              <a:buNone/>
            </a:pPr>
            <a:r>
              <a:rPr lang="en-US" dirty="0" smtClean="0"/>
              <a:t>12. Regular adaptation to changing circumstances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vs. Waterfall</a:t>
            </a:r>
            <a:endParaRPr lang="en-US" dirty="0"/>
          </a:p>
        </p:txBody>
      </p:sp>
      <p:sp>
        <p:nvSpPr>
          <p:cNvPr id="3" name="Subtitle 2"/>
          <p:cNvSpPr>
            <a:spLocks noGrp="1"/>
          </p:cNvSpPr>
          <p:nvPr>
            <p:ph idx="1"/>
          </p:nvPr>
        </p:nvSpPr>
        <p:spPr>
          <a:xfrm>
            <a:off x="457200" y="1371600"/>
            <a:ext cx="8229600" cy="4754563"/>
          </a:xfrm>
        </p:spPr>
        <p:txBody>
          <a:bodyPr>
            <a:normAutofit/>
          </a:bodyPr>
          <a:lstStyle/>
          <a:p>
            <a:pPr>
              <a:buNone/>
            </a:pPr>
            <a:r>
              <a:rPr lang="en-US" dirty="0" smtClean="0"/>
              <a:t> </a:t>
            </a:r>
            <a:endParaRPr lang="en-US" dirty="0"/>
          </a:p>
        </p:txBody>
      </p:sp>
      <p:pic>
        <p:nvPicPr>
          <p:cNvPr id="2051" name="Picture 3" descr="C:\Users\Ashish GC\Google Drive\1. Learning  &amp; Out OF Boundary\Agile\images\mona-lisa.png"/>
          <p:cNvPicPr>
            <a:picLocks noChangeAspect="1" noChangeArrowheads="1"/>
          </p:cNvPicPr>
          <p:nvPr/>
        </p:nvPicPr>
        <p:blipFill>
          <a:blip r:embed="rId3"/>
          <a:srcRect/>
          <a:stretch>
            <a:fillRect/>
          </a:stretch>
        </p:blipFill>
        <p:spPr bwMode="auto">
          <a:xfrm>
            <a:off x="1524000" y="1600200"/>
            <a:ext cx="6324600" cy="4570822"/>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vs. Waterfall</a:t>
            </a:r>
            <a:endParaRPr lang="en-US" dirty="0"/>
          </a:p>
        </p:txBody>
      </p:sp>
      <p:sp>
        <p:nvSpPr>
          <p:cNvPr id="3" name="Subtitle 2"/>
          <p:cNvSpPr>
            <a:spLocks noGrp="1"/>
          </p:cNvSpPr>
          <p:nvPr>
            <p:ph idx="1"/>
          </p:nvPr>
        </p:nvSpPr>
        <p:spPr>
          <a:xfrm>
            <a:off x="457200" y="1371600"/>
            <a:ext cx="8229600" cy="4754563"/>
          </a:xfrm>
        </p:spPr>
        <p:txBody>
          <a:bodyPr>
            <a:normAutofit/>
          </a:bodyPr>
          <a:lstStyle/>
          <a:p>
            <a:pPr>
              <a:buNone/>
            </a:pPr>
            <a:r>
              <a:rPr lang="en-US" dirty="0" smtClean="0"/>
              <a:t> </a:t>
            </a:r>
            <a:endParaRPr lang="en-US" dirty="0"/>
          </a:p>
        </p:txBody>
      </p:sp>
      <p:pic>
        <p:nvPicPr>
          <p:cNvPr id="2050" name="Picture 2" descr="C:\Users\Ashish GC\Google Drive\1. Learning  &amp; Out OF Boundary\Agile\images\waterfall_vs_agile2.jpg"/>
          <p:cNvPicPr>
            <a:picLocks noChangeAspect="1" noChangeArrowheads="1"/>
          </p:cNvPicPr>
          <p:nvPr/>
        </p:nvPicPr>
        <p:blipFill>
          <a:blip r:embed="rId3"/>
          <a:srcRect/>
          <a:stretch>
            <a:fillRect/>
          </a:stretch>
        </p:blipFill>
        <p:spPr bwMode="auto">
          <a:xfrm>
            <a:off x="1828800" y="1828800"/>
            <a:ext cx="5029200" cy="2923222"/>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vs. Documentation</a:t>
            </a:r>
            <a:endParaRPr lang="en-US" dirty="0"/>
          </a:p>
        </p:txBody>
      </p:sp>
      <p:sp>
        <p:nvSpPr>
          <p:cNvPr id="3" name="Subtitle 2"/>
          <p:cNvSpPr>
            <a:spLocks noGrp="1"/>
          </p:cNvSpPr>
          <p:nvPr>
            <p:ph idx="1"/>
          </p:nvPr>
        </p:nvSpPr>
        <p:spPr/>
        <p:txBody>
          <a:bodyPr>
            <a:normAutofit/>
          </a:bodyPr>
          <a:lstStyle/>
          <a:p>
            <a:pPr>
              <a:buNone/>
            </a:pPr>
            <a:r>
              <a:rPr lang="en-US" dirty="0" smtClean="0"/>
              <a:t> </a:t>
            </a:r>
            <a:r>
              <a:rPr lang="en-US" dirty="0" smtClean="0"/>
              <a:t>"Working software over comprehensive documentation" as "We want to spend all our time coding. Remember, real programmers don’t write documentation."</a:t>
            </a:r>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t>
            </a:r>
            <a:endParaRPr lang="en-US" dirty="0"/>
          </a:p>
        </p:txBody>
      </p:sp>
      <p:sp>
        <p:nvSpPr>
          <p:cNvPr id="3" name="Subtitle 2"/>
          <p:cNvSpPr>
            <a:spLocks noGrp="1"/>
          </p:cNvSpPr>
          <p:nvPr>
            <p:ph idx="1"/>
          </p:nvPr>
        </p:nvSpPr>
        <p:spPr/>
        <p:txBody>
          <a:bodyPr>
            <a:normAutofit/>
          </a:bodyPr>
          <a:lstStyle/>
          <a:p>
            <a:pPr>
              <a:buNone/>
            </a:pPr>
            <a:r>
              <a:rPr lang="en-US" dirty="0" smtClean="0"/>
              <a:t> </a:t>
            </a:r>
            <a:endParaRPr lang="en-US" dirty="0" smtClean="0"/>
          </a:p>
          <a:p>
            <a:pPr>
              <a:buNone/>
            </a:pPr>
            <a:endParaRPr lang="en-US" dirty="0"/>
          </a:p>
        </p:txBody>
      </p:sp>
      <p:pic>
        <p:nvPicPr>
          <p:cNvPr id="6145" name="Picture 1" descr="C:\Users\Ashish GC\Google Drive\1. Learning  &amp; Out OF Boundary\Agile\images\what-is-agile-agile-what-is-agile-methodology-agile-methodology_luis-goncalves.png"/>
          <p:cNvPicPr>
            <a:picLocks noChangeAspect="1" noChangeArrowheads="1"/>
          </p:cNvPicPr>
          <p:nvPr/>
        </p:nvPicPr>
        <p:blipFill>
          <a:blip r:embed="rId3"/>
          <a:srcRect/>
          <a:stretch>
            <a:fillRect/>
          </a:stretch>
        </p:blipFill>
        <p:spPr bwMode="auto">
          <a:xfrm>
            <a:off x="1752600" y="1295400"/>
            <a:ext cx="6324600" cy="474345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smtClean="0"/>
              <a:t>The Benefits of Agile Software Development</a:t>
            </a:r>
            <a:endParaRPr lang="en-US" b="1" dirty="0"/>
          </a:p>
        </p:txBody>
      </p:sp>
      <p:sp>
        <p:nvSpPr>
          <p:cNvPr id="3" name="Subtitle 2"/>
          <p:cNvSpPr>
            <a:spLocks noGrp="1"/>
          </p:cNvSpPr>
          <p:nvPr>
            <p:ph idx="1"/>
          </p:nvPr>
        </p:nvSpPr>
        <p:spPr/>
        <p:txBody>
          <a:bodyPr>
            <a:normAutofit fontScale="77500" lnSpcReduction="20000"/>
          </a:bodyPr>
          <a:lstStyle/>
          <a:p>
            <a:pPr>
              <a:buNone/>
            </a:pPr>
            <a:r>
              <a:rPr lang="en-US" dirty="0" smtClean="0"/>
              <a:t> </a:t>
            </a:r>
            <a:endParaRPr lang="en-US" dirty="0" smtClean="0"/>
          </a:p>
          <a:p>
            <a:pPr lvl="0" fontAlgn="base"/>
            <a:r>
              <a:rPr lang="en-US" b="1" dirty="0" smtClean="0"/>
              <a:t>Stakeholder Engagement and Satisfaction </a:t>
            </a:r>
            <a:endParaRPr lang="en-US" dirty="0" smtClean="0"/>
          </a:p>
          <a:p>
            <a:pPr lvl="0" fontAlgn="base"/>
            <a:r>
              <a:rPr lang="en-US" b="1" dirty="0" smtClean="0"/>
              <a:t>Transparency </a:t>
            </a:r>
            <a:endParaRPr lang="en-US" dirty="0" smtClean="0"/>
          </a:p>
          <a:p>
            <a:pPr lvl="0" fontAlgn="base"/>
            <a:r>
              <a:rPr lang="en-US" b="1" dirty="0" smtClean="0"/>
              <a:t>Early and Predictable Delivery </a:t>
            </a:r>
            <a:endParaRPr lang="en-US" dirty="0" smtClean="0"/>
          </a:p>
          <a:p>
            <a:pPr lvl="0" fontAlgn="base"/>
            <a:r>
              <a:rPr lang="en-US" b="1" dirty="0" smtClean="0"/>
              <a:t>Predictable Costs and Schedule</a:t>
            </a:r>
            <a:endParaRPr lang="en-US" dirty="0" smtClean="0"/>
          </a:p>
          <a:p>
            <a:pPr lvl="0" fontAlgn="base"/>
            <a:r>
              <a:rPr lang="en-US" b="1" dirty="0" smtClean="0"/>
              <a:t>Flexible Prioritization</a:t>
            </a:r>
            <a:endParaRPr lang="en-US" dirty="0" smtClean="0"/>
          </a:p>
          <a:p>
            <a:pPr lvl="0" fontAlgn="base"/>
            <a:r>
              <a:rPr lang="en-US" b="1" dirty="0" smtClean="0"/>
              <a:t>Allows for Change</a:t>
            </a:r>
            <a:endParaRPr lang="en-US" dirty="0" smtClean="0"/>
          </a:p>
          <a:p>
            <a:pPr lvl="0" fontAlgn="base"/>
            <a:r>
              <a:rPr lang="en-US" b="1" dirty="0" smtClean="0"/>
              <a:t>Focuses on Business Value</a:t>
            </a:r>
            <a:endParaRPr lang="en-US" dirty="0" smtClean="0"/>
          </a:p>
          <a:p>
            <a:pPr lvl="0" fontAlgn="base"/>
            <a:r>
              <a:rPr lang="en-US" b="1" dirty="0" smtClean="0"/>
              <a:t>Focuses on Users </a:t>
            </a:r>
            <a:endParaRPr lang="en-US" dirty="0" smtClean="0"/>
          </a:p>
          <a:p>
            <a:pPr lvl="0" fontAlgn="base"/>
            <a:r>
              <a:rPr lang="en-US" b="1" dirty="0" smtClean="0"/>
              <a:t>Improves Quality </a:t>
            </a:r>
            <a:endParaRPr lang="en-US" dirty="0" smtClean="0"/>
          </a:p>
          <a:p>
            <a:pPr lvl="0" fontAlgn="base"/>
            <a:r>
              <a:rPr lang="en-US" b="1" dirty="0" smtClean="0"/>
              <a:t>It gives your team Purpose</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The Business Benefits of Agile</a:t>
            </a:r>
            <a:endParaRPr lang="en-US" b="1" dirty="0"/>
          </a:p>
        </p:txBody>
      </p:sp>
      <p:sp>
        <p:nvSpPr>
          <p:cNvPr id="3" name="Subtitle 2"/>
          <p:cNvSpPr>
            <a:spLocks noGrp="1"/>
          </p:cNvSpPr>
          <p:nvPr>
            <p:ph idx="1"/>
          </p:nvPr>
        </p:nvSpPr>
        <p:spPr/>
        <p:txBody>
          <a:bodyPr>
            <a:normAutofit/>
          </a:bodyPr>
          <a:lstStyle/>
          <a:p>
            <a:pPr>
              <a:buNone/>
            </a:pPr>
            <a:r>
              <a:rPr lang="en-US" dirty="0" smtClean="0"/>
              <a:t> </a:t>
            </a:r>
            <a:endParaRPr lang="en-US" dirty="0" smtClean="0"/>
          </a:p>
          <a:p>
            <a:pPr>
              <a:buNone/>
            </a:pPr>
            <a:endParaRPr lang="en-US" dirty="0"/>
          </a:p>
        </p:txBody>
      </p:sp>
      <p:pic>
        <p:nvPicPr>
          <p:cNvPr id="34818" name="Picture 2" descr="C:\Users\Ashish GC\Google Drive\1. Learning  &amp; Out OF Boundary\Agile\images\Research.png"/>
          <p:cNvPicPr>
            <a:picLocks noChangeAspect="1" noChangeArrowheads="1"/>
          </p:cNvPicPr>
          <p:nvPr/>
        </p:nvPicPr>
        <p:blipFill>
          <a:blip r:embed="rId3"/>
          <a:srcRect/>
          <a:stretch>
            <a:fillRect/>
          </a:stretch>
        </p:blipFill>
        <p:spPr bwMode="auto">
          <a:xfrm>
            <a:off x="1295400" y="1371600"/>
            <a:ext cx="6303963" cy="4727972"/>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smtClean="0"/>
              <a:t>What is </a:t>
            </a:r>
            <a:r>
              <a:rPr lang="en-US" dirty="0" smtClean="0"/>
              <a:t>Scrum? </a:t>
            </a:r>
            <a:endParaRPr lang="en-US" b="1" dirty="0"/>
          </a:p>
        </p:txBody>
      </p:sp>
      <p:sp>
        <p:nvSpPr>
          <p:cNvPr id="3" name="Subtitle 2"/>
          <p:cNvSpPr>
            <a:spLocks noGrp="1"/>
          </p:cNvSpPr>
          <p:nvPr>
            <p:ph idx="1"/>
          </p:nvPr>
        </p:nvSpPr>
        <p:spPr/>
        <p:txBody>
          <a:bodyPr>
            <a:normAutofit/>
          </a:bodyPr>
          <a:lstStyle/>
          <a:p>
            <a:pPr>
              <a:buNone/>
            </a:pPr>
            <a:r>
              <a:rPr lang="en-US" dirty="0" smtClean="0"/>
              <a:t> </a:t>
            </a:r>
            <a:endParaRPr lang="en-US" dirty="0" smtClean="0"/>
          </a:p>
          <a:p>
            <a:pPr>
              <a:buNone/>
            </a:pPr>
            <a:endParaRPr lang="en-US" dirty="0"/>
          </a:p>
        </p:txBody>
      </p:sp>
      <p:pic>
        <p:nvPicPr>
          <p:cNvPr id="35842" name="Picture 2" descr="C:\Users\Ashish GC\Google Drive\1. Learning  &amp; Out OF Boundary\Agile\images\ece15dffce38775bd3ee7ed188eb2876b797191a.jpeg"/>
          <p:cNvPicPr>
            <a:picLocks noChangeAspect="1" noChangeArrowheads="1"/>
          </p:cNvPicPr>
          <p:nvPr/>
        </p:nvPicPr>
        <p:blipFill>
          <a:blip r:embed="rId3"/>
          <a:srcRect/>
          <a:stretch>
            <a:fillRect/>
          </a:stretch>
        </p:blipFill>
        <p:spPr bwMode="auto">
          <a:xfrm>
            <a:off x="685800" y="1295400"/>
            <a:ext cx="8151813" cy="4891088"/>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smtClean="0"/>
              <a:t>What is </a:t>
            </a:r>
            <a:r>
              <a:rPr lang="en-US" dirty="0" smtClean="0"/>
              <a:t>Scrum? </a:t>
            </a:r>
            <a:endParaRPr lang="en-US" b="1" dirty="0"/>
          </a:p>
        </p:txBody>
      </p:sp>
      <p:sp>
        <p:nvSpPr>
          <p:cNvPr id="3" name="Subtitle 2"/>
          <p:cNvSpPr>
            <a:spLocks noGrp="1"/>
          </p:cNvSpPr>
          <p:nvPr>
            <p:ph idx="1"/>
          </p:nvPr>
        </p:nvSpPr>
        <p:spPr/>
        <p:txBody>
          <a:bodyPr>
            <a:normAutofit fontScale="92500" lnSpcReduction="10000"/>
          </a:bodyPr>
          <a:lstStyle/>
          <a:p>
            <a:r>
              <a:rPr lang="en-US" dirty="0" smtClean="0"/>
              <a:t> </a:t>
            </a:r>
            <a:r>
              <a:rPr lang="en-US" dirty="0" smtClean="0"/>
              <a:t>Scrum is a </a:t>
            </a:r>
            <a:r>
              <a:rPr lang="en-US" b="1" dirty="0" smtClean="0"/>
              <a:t>framework</a:t>
            </a:r>
            <a:r>
              <a:rPr lang="en-US" dirty="0" smtClean="0"/>
              <a:t> within which people can address complex adaptive problems, while productively and creatively delivering products of the highest possible value.</a:t>
            </a:r>
          </a:p>
          <a:p>
            <a:r>
              <a:rPr lang="en-US" dirty="0" smtClean="0"/>
              <a:t>Scrum itself is a simple </a:t>
            </a:r>
            <a:r>
              <a:rPr lang="en-US" b="1" dirty="0" smtClean="0"/>
              <a:t>framework</a:t>
            </a:r>
            <a:r>
              <a:rPr lang="en-US" dirty="0" smtClean="0"/>
              <a:t> for effective team collaboration on complex products.  </a:t>
            </a:r>
            <a:endParaRPr lang="en-US" dirty="0" smtClean="0"/>
          </a:p>
          <a:p>
            <a:r>
              <a:rPr lang="en-US" dirty="0" smtClean="0"/>
              <a:t>Scrum </a:t>
            </a:r>
            <a:r>
              <a:rPr lang="en-US" dirty="0" smtClean="0"/>
              <a:t>is:</a:t>
            </a:r>
          </a:p>
          <a:p>
            <a:pPr lvl="1"/>
            <a:r>
              <a:rPr lang="en-US" dirty="0" smtClean="0"/>
              <a:t>Lightweight</a:t>
            </a:r>
          </a:p>
          <a:p>
            <a:pPr lvl="1"/>
            <a:r>
              <a:rPr lang="en-US" dirty="0" smtClean="0"/>
              <a:t>Simple to understand</a:t>
            </a:r>
          </a:p>
          <a:p>
            <a:pPr lvl="1"/>
            <a:r>
              <a:rPr lang="en-US" dirty="0" smtClean="0"/>
              <a:t>Difficult to master</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smtClean="0"/>
              <a:t>Why </a:t>
            </a:r>
            <a:r>
              <a:rPr lang="en-US" dirty="0" smtClean="0"/>
              <a:t>Scrum?</a:t>
            </a:r>
            <a:endParaRPr lang="en-US" b="1" dirty="0"/>
          </a:p>
        </p:txBody>
      </p:sp>
      <p:sp>
        <p:nvSpPr>
          <p:cNvPr id="3" name="Subtitle 2"/>
          <p:cNvSpPr>
            <a:spLocks noGrp="1"/>
          </p:cNvSpPr>
          <p:nvPr>
            <p:ph idx="1"/>
          </p:nvPr>
        </p:nvSpPr>
        <p:spPr/>
        <p:txBody>
          <a:bodyPr>
            <a:normAutofit/>
          </a:bodyPr>
          <a:lstStyle/>
          <a:p>
            <a:r>
              <a:rPr lang="en-US" dirty="0" smtClean="0"/>
              <a:t> MVP (minimum viable product)</a:t>
            </a:r>
          </a:p>
          <a:p>
            <a:pPr>
              <a:buNone/>
            </a:pPr>
            <a:endParaRPr lang="en-US" dirty="0" smtClean="0"/>
          </a:p>
          <a:p>
            <a:pPr>
              <a:buNone/>
            </a:pPr>
            <a:endParaRPr lang="en-US" dirty="0"/>
          </a:p>
        </p:txBody>
      </p:sp>
      <p:pic>
        <p:nvPicPr>
          <p:cNvPr id="4" name="Picture 3" descr="C:\Users\GC_USER1\Desktop\564x530xMVP.png.pagespeed.ic.0C3WtpaRCR.png"/>
          <p:cNvPicPr/>
          <p:nvPr/>
        </p:nvPicPr>
        <p:blipFill>
          <a:blip r:embed="rId3"/>
          <a:srcRect/>
          <a:stretch>
            <a:fillRect/>
          </a:stretch>
        </p:blipFill>
        <p:spPr bwMode="auto">
          <a:xfrm>
            <a:off x="2514600" y="2362200"/>
            <a:ext cx="4038600" cy="37541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Scrum </a:t>
            </a:r>
            <a:r>
              <a:rPr lang="fr-FR" dirty="0" smtClean="0"/>
              <a:t>vs</a:t>
            </a:r>
            <a:r>
              <a:rPr lang="fr-FR" dirty="0" smtClean="0"/>
              <a:t>. </a:t>
            </a:r>
            <a:r>
              <a:rPr lang="fr-FR" dirty="0" smtClean="0"/>
              <a:t>Traditionnel </a:t>
            </a:r>
            <a:r>
              <a:rPr lang="fr-FR" dirty="0" smtClean="0"/>
              <a:t>Project Management</a:t>
            </a:r>
            <a:endParaRPr lang="en-US" dirty="0"/>
          </a:p>
        </p:txBody>
      </p:sp>
      <p:sp>
        <p:nvSpPr>
          <p:cNvPr id="3" name="Subtitle 2"/>
          <p:cNvSpPr>
            <a:spLocks noGrp="1"/>
          </p:cNvSpPr>
          <p:nvPr>
            <p:ph idx="1"/>
          </p:nvPr>
        </p:nvSpPr>
        <p:spPr/>
        <p:txBody>
          <a:bodyPr>
            <a:normAutofit/>
          </a:bodyPr>
          <a:lstStyle/>
          <a:p>
            <a:r>
              <a:rPr lang="en-US" dirty="0" smtClean="0"/>
              <a:t>…. </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Scrum has been used by</a:t>
            </a:r>
            <a:endParaRPr lang="en-US" dirty="0"/>
          </a:p>
        </p:txBody>
      </p:sp>
      <p:sp>
        <p:nvSpPr>
          <p:cNvPr id="3" name="Subtitle 2"/>
          <p:cNvSpPr>
            <a:spLocks noGrp="1"/>
          </p:cNvSpPr>
          <p:nvPr>
            <p:ph idx="1"/>
          </p:nvPr>
        </p:nvSpPr>
        <p:spPr/>
        <p:txBody>
          <a:bodyPr>
            <a:normAutofit/>
          </a:bodyPr>
          <a:lstStyle/>
          <a:p>
            <a:pPr>
              <a:buNone/>
            </a:pPr>
            <a:r>
              <a:rPr lang="en-US" dirty="0" smtClean="0"/>
              <a:t> </a:t>
            </a:r>
            <a:endParaRPr lang="en-US" dirty="0"/>
          </a:p>
        </p:txBody>
      </p:sp>
      <p:sp>
        <p:nvSpPr>
          <p:cNvPr id="4" name="Rectangle 2"/>
          <p:cNvSpPr>
            <a:spLocks/>
          </p:cNvSpPr>
          <p:nvPr/>
        </p:nvSpPr>
        <p:spPr bwMode="auto">
          <a:xfrm>
            <a:off x="1219200" y="1676400"/>
            <a:ext cx="2819400" cy="4431983"/>
          </a:xfrm>
          <a:prstGeom prst="rect">
            <a:avLst/>
          </a:prstGeom>
          <a:noFill/>
          <a:ln w="9525">
            <a:noFill/>
            <a:miter lim="800000"/>
            <a:headEnd/>
            <a:tailEnd/>
          </a:ln>
        </p:spPr>
        <p:txBody>
          <a:bodyPr wrap="square" lIns="0" tIns="0" rIns="0" bIns="0">
            <a:spAutoFit/>
          </a:bodyPr>
          <a:lstStyle/>
          <a:p>
            <a:pPr algn="l">
              <a:buSzPct val="100000"/>
              <a:buFont typeface="Gill Sans" charset="0"/>
              <a:buChar char="•"/>
            </a:pPr>
            <a:r>
              <a:rPr lang="en-US" sz="2400" dirty="0">
                <a:solidFill>
                  <a:schemeClr val="tx1"/>
                </a:solidFill>
              </a:rPr>
              <a:t>Microsoft</a:t>
            </a:r>
          </a:p>
          <a:p>
            <a:pPr algn="l">
              <a:buSzPct val="100000"/>
              <a:buFont typeface="Gill Sans" charset="0"/>
              <a:buChar char="•"/>
            </a:pPr>
            <a:r>
              <a:rPr lang="en-US" sz="2400" dirty="0">
                <a:solidFill>
                  <a:schemeClr val="tx1"/>
                </a:solidFill>
              </a:rPr>
              <a:t>Yahoo</a:t>
            </a:r>
          </a:p>
          <a:p>
            <a:pPr algn="l">
              <a:buSzPct val="100000"/>
              <a:buFont typeface="Gill Sans" charset="0"/>
              <a:buChar char="•"/>
            </a:pPr>
            <a:r>
              <a:rPr lang="en-US" sz="2400" dirty="0">
                <a:solidFill>
                  <a:schemeClr val="tx1"/>
                </a:solidFill>
              </a:rPr>
              <a:t>Google</a:t>
            </a:r>
          </a:p>
          <a:p>
            <a:pPr algn="l">
              <a:buSzPct val="100000"/>
              <a:buFont typeface="Gill Sans" charset="0"/>
              <a:buChar char="•"/>
            </a:pPr>
            <a:r>
              <a:rPr lang="en-US" sz="2400" dirty="0">
                <a:solidFill>
                  <a:schemeClr val="tx1"/>
                </a:solidFill>
              </a:rPr>
              <a:t>Electronic Arts</a:t>
            </a:r>
          </a:p>
          <a:p>
            <a:pPr algn="l">
              <a:buSzPct val="100000"/>
              <a:buFont typeface="Gill Sans" charset="0"/>
              <a:buChar char="•"/>
            </a:pPr>
            <a:r>
              <a:rPr lang="en-US" sz="2400" dirty="0">
                <a:solidFill>
                  <a:schemeClr val="tx1"/>
                </a:solidFill>
              </a:rPr>
              <a:t>High Moon Studios</a:t>
            </a:r>
          </a:p>
          <a:p>
            <a:pPr algn="l">
              <a:buSzPct val="100000"/>
              <a:buFont typeface="Gill Sans" charset="0"/>
              <a:buChar char="•"/>
            </a:pPr>
            <a:r>
              <a:rPr lang="en-US" sz="2400" dirty="0">
                <a:solidFill>
                  <a:schemeClr val="tx1"/>
                </a:solidFill>
              </a:rPr>
              <a:t>Lockheed Martin</a:t>
            </a:r>
          </a:p>
          <a:p>
            <a:pPr algn="l">
              <a:buSzPct val="100000"/>
              <a:buFont typeface="Gill Sans" charset="0"/>
              <a:buChar char="•"/>
            </a:pPr>
            <a:r>
              <a:rPr lang="en-US" sz="2400" dirty="0">
                <a:solidFill>
                  <a:schemeClr val="tx1"/>
                </a:solidFill>
              </a:rPr>
              <a:t>Philips</a:t>
            </a:r>
          </a:p>
          <a:p>
            <a:pPr algn="l">
              <a:buSzPct val="100000"/>
              <a:buFont typeface="Gill Sans" charset="0"/>
              <a:buChar char="•"/>
            </a:pPr>
            <a:r>
              <a:rPr lang="en-US" sz="2400" dirty="0">
                <a:solidFill>
                  <a:schemeClr val="tx1"/>
                </a:solidFill>
              </a:rPr>
              <a:t>Siemens</a:t>
            </a:r>
          </a:p>
          <a:p>
            <a:pPr algn="l">
              <a:buSzPct val="100000"/>
              <a:buFont typeface="Gill Sans" charset="0"/>
              <a:buChar char="•"/>
            </a:pPr>
            <a:r>
              <a:rPr lang="en-US" sz="2400" dirty="0">
                <a:solidFill>
                  <a:schemeClr val="tx1"/>
                </a:solidFill>
              </a:rPr>
              <a:t>Nokia</a:t>
            </a:r>
          </a:p>
          <a:p>
            <a:pPr algn="l">
              <a:buSzPct val="100000"/>
              <a:buFont typeface="Gill Sans" charset="0"/>
              <a:buChar char="•"/>
            </a:pPr>
            <a:r>
              <a:rPr lang="en-US" sz="2400" dirty="0">
                <a:solidFill>
                  <a:schemeClr val="tx1"/>
                </a:solidFill>
              </a:rPr>
              <a:t>Capital One</a:t>
            </a:r>
          </a:p>
          <a:p>
            <a:pPr algn="l">
              <a:buSzPct val="100000"/>
              <a:buFont typeface="Gill Sans" charset="0"/>
              <a:buChar char="•"/>
            </a:pPr>
            <a:r>
              <a:rPr lang="en-US" sz="2400" dirty="0">
                <a:solidFill>
                  <a:schemeClr val="tx1"/>
                </a:solidFill>
              </a:rPr>
              <a:t>BBC</a:t>
            </a:r>
          </a:p>
          <a:p>
            <a:pPr algn="l">
              <a:buSzPct val="100000"/>
              <a:buFont typeface="Gill Sans" charset="0"/>
              <a:buChar char="•"/>
            </a:pPr>
            <a:r>
              <a:rPr lang="en-US" sz="2400" dirty="0">
                <a:solidFill>
                  <a:schemeClr val="tx1"/>
                </a:solidFill>
              </a:rPr>
              <a:t>Intuit</a:t>
            </a:r>
          </a:p>
        </p:txBody>
      </p:sp>
      <p:sp>
        <p:nvSpPr>
          <p:cNvPr id="5" name="Rectangle 3"/>
          <p:cNvSpPr>
            <a:spLocks/>
          </p:cNvSpPr>
          <p:nvPr/>
        </p:nvSpPr>
        <p:spPr bwMode="auto">
          <a:xfrm>
            <a:off x="4953000" y="1752600"/>
            <a:ext cx="3103562" cy="3693319"/>
          </a:xfrm>
          <a:prstGeom prst="rect">
            <a:avLst/>
          </a:prstGeom>
          <a:noFill/>
          <a:ln w="9525">
            <a:noFill/>
            <a:miter lim="800000"/>
            <a:headEnd/>
            <a:tailEnd/>
          </a:ln>
        </p:spPr>
        <p:txBody>
          <a:bodyPr wrap="square" lIns="0" tIns="0" rIns="0" bIns="0">
            <a:spAutoFit/>
          </a:bodyPr>
          <a:lstStyle/>
          <a:p>
            <a:pPr algn="l">
              <a:buSzPct val="100000"/>
              <a:buFont typeface="Gill Sans" charset="0"/>
              <a:buChar char="•"/>
            </a:pPr>
            <a:r>
              <a:rPr lang="en-US" sz="2000" dirty="0">
                <a:solidFill>
                  <a:schemeClr val="tx1"/>
                </a:solidFill>
              </a:rPr>
              <a:t>Intuit</a:t>
            </a:r>
          </a:p>
          <a:p>
            <a:pPr algn="l">
              <a:buSzPct val="100000"/>
              <a:buFont typeface="Gill Sans" charset="0"/>
              <a:buChar char="•"/>
            </a:pPr>
            <a:r>
              <a:rPr lang="en-US" sz="2000" dirty="0">
                <a:solidFill>
                  <a:schemeClr val="tx1"/>
                </a:solidFill>
              </a:rPr>
              <a:t>Nielsen Media</a:t>
            </a:r>
          </a:p>
          <a:p>
            <a:pPr algn="l">
              <a:buSzPct val="100000"/>
              <a:buFont typeface="Gill Sans" charset="0"/>
              <a:buChar char="•"/>
            </a:pPr>
            <a:r>
              <a:rPr lang="en-US" sz="2000" dirty="0">
                <a:solidFill>
                  <a:schemeClr val="tx1"/>
                </a:solidFill>
              </a:rPr>
              <a:t>First American Real Estate</a:t>
            </a:r>
          </a:p>
          <a:p>
            <a:pPr algn="l">
              <a:buSzPct val="100000"/>
              <a:buFont typeface="Gill Sans" charset="0"/>
              <a:buChar char="•"/>
            </a:pPr>
            <a:r>
              <a:rPr lang="en-US" sz="2000" dirty="0">
                <a:solidFill>
                  <a:schemeClr val="tx1"/>
                </a:solidFill>
              </a:rPr>
              <a:t>BMC Software</a:t>
            </a:r>
          </a:p>
          <a:p>
            <a:pPr algn="l">
              <a:buSzPct val="100000"/>
              <a:buFont typeface="Gill Sans" charset="0"/>
              <a:buChar char="•"/>
            </a:pPr>
            <a:r>
              <a:rPr lang="en-US" sz="2000" dirty="0" err="1">
                <a:solidFill>
                  <a:schemeClr val="tx1"/>
                </a:solidFill>
              </a:rPr>
              <a:t>Ipswitch</a:t>
            </a:r>
            <a:endParaRPr lang="en-US" sz="2000" dirty="0">
              <a:solidFill>
                <a:schemeClr val="tx1"/>
              </a:solidFill>
            </a:endParaRPr>
          </a:p>
          <a:p>
            <a:pPr algn="l">
              <a:buSzPct val="100000"/>
              <a:buFont typeface="Gill Sans" charset="0"/>
              <a:buChar char="•"/>
            </a:pPr>
            <a:r>
              <a:rPr lang="en-US" sz="2000" dirty="0">
                <a:solidFill>
                  <a:schemeClr val="tx1"/>
                </a:solidFill>
              </a:rPr>
              <a:t>John Deere</a:t>
            </a:r>
          </a:p>
          <a:p>
            <a:pPr algn="l">
              <a:buSzPct val="100000"/>
              <a:buFont typeface="Gill Sans" charset="0"/>
              <a:buChar char="•"/>
            </a:pPr>
            <a:r>
              <a:rPr lang="en-US" sz="2000" dirty="0">
                <a:solidFill>
                  <a:schemeClr val="tx1"/>
                </a:solidFill>
              </a:rPr>
              <a:t>Lexis </a:t>
            </a:r>
            <a:r>
              <a:rPr lang="en-US" sz="2000" dirty="0" err="1">
                <a:solidFill>
                  <a:schemeClr val="tx1"/>
                </a:solidFill>
              </a:rPr>
              <a:t>Nexis</a:t>
            </a:r>
            <a:endParaRPr lang="en-US" sz="2000" dirty="0">
              <a:solidFill>
                <a:schemeClr val="tx1"/>
              </a:solidFill>
            </a:endParaRPr>
          </a:p>
          <a:p>
            <a:pPr algn="l">
              <a:buSzPct val="100000"/>
              <a:buFont typeface="Gill Sans" charset="0"/>
              <a:buChar char="•"/>
            </a:pPr>
            <a:r>
              <a:rPr lang="en-US" sz="2000" dirty="0" err="1">
                <a:solidFill>
                  <a:schemeClr val="tx1"/>
                </a:solidFill>
              </a:rPr>
              <a:t>Sabre</a:t>
            </a:r>
            <a:endParaRPr lang="en-US" sz="2000" dirty="0">
              <a:solidFill>
                <a:schemeClr val="tx1"/>
              </a:solidFill>
            </a:endParaRPr>
          </a:p>
          <a:p>
            <a:pPr algn="l">
              <a:buSzPct val="100000"/>
              <a:buFont typeface="Gill Sans" charset="0"/>
              <a:buChar char="•"/>
            </a:pPr>
            <a:r>
              <a:rPr lang="en-US" sz="2000" dirty="0">
                <a:solidFill>
                  <a:schemeClr val="tx1"/>
                </a:solidFill>
              </a:rPr>
              <a:t>Salesforce.com</a:t>
            </a:r>
          </a:p>
          <a:p>
            <a:pPr algn="l">
              <a:buSzPct val="100000"/>
              <a:buFont typeface="Gill Sans" charset="0"/>
              <a:buChar char="•"/>
            </a:pPr>
            <a:r>
              <a:rPr lang="en-US" sz="2000" dirty="0">
                <a:solidFill>
                  <a:schemeClr val="tx1"/>
                </a:solidFill>
              </a:rPr>
              <a:t>Time Warner</a:t>
            </a:r>
          </a:p>
          <a:p>
            <a:pPr algn="l">
              <a:buSzPct val="100000"/>
              <a:buFont typeface="Gill Sans" charset="0"/>
              <a:buChar char="•"/>
            </a:pPr>
            <a:r>
              <a:rPr lang="en-US" sz="2000" dirty="0">
                <a:solidFill>
                  <a:schemeClr val="tx1"/>
                </a:solidFill>
              </a:rPr>
              <a:t>Turner Broadcasting</a:t>
            </a:r>
          </a:p>
          <a:p>
            <a:pPr algn="l">
              <a:buSzPct val="100000"/>
              <a:buFont typeface="Gill Sans" charset="0"/>
              <a:buChar char="•"/>
            </a:pPr>
            <a:r>
              <a:rPr lang="en-US" sz="2000" dirty="0" err="1">
                <a:solidFill>
                  <a:schemeClr val="tx1"/>
                </a:solidFill>
              </a:rPr>
              <a:t>Oce</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Scrum </a:t>
            </a:r>
            <a:r>
              <a:rPr lang="en-US" dirty="0" smtClean="0"/>
              <a:t>framework</a:t>
            </a:r>
            <a:endParaRPr lang="en-US" dirty="0"/>
          </a:p>
        </p:txBody>
      </p:sp>
      <p:sp>
        <p:nvSpPr>
          <p:cNvPr id="3" name="Subtitle 2"/>
          <p:cNvSpPr>
            <a:spLocks noGrp="1"/>
          </p:cNvSpPr>
          <p:nvPr>
            <p:ph idx="1"/>
          </p:nvPr>
        </p:nvSpPr>
        <p:spPr/>
        <p:txBody>
          <a:bodyPr>
            <a:normAutofit/>
          </a:bodyPr>
          <a:lstStyle/>
          <a:p>
            <a:r>
              <a:rPr lang="en-US" dirty="0" smtClean="0"/>
              <a:t> </a:t>
            </a:r>
            <a:endParaRPr lang="en-US" dirty="0" smtClean="0"/>
          </a:p>
          <a:p>
            <a:endParaRPr lang="en-US" dirty="0"/>
          </a:p>
        </p:txBody>
      </p:sp>
      <p:grpSp>
        <p:nvGrpSpPr>
          <p:cNvPr id="5" name="Group 2"/>
          <p:cNvGrpSpPr>
            <a:grpSpLocks/>
          </p:cNvGrpSpPr>
          <p:nvPr/>
        </p:nvGrpSpPr>
        <p:grpSpPr bwMode="auto">
          <a:xfrm>
            <a:off x="304800" y="542946"/>
            <a:ext cx="3835400" cy="1816100"/>
            <a:chOff x="0" y="0"/>
            <a:chExt cx="2608" cy="1288"/>
          </a:xfrm>
        </p:grpSpPr>
        <p:sp>
          <p:nvSpPr>
            <p:cNvPr id="6" name="AutoShape 3"/>
            <p:cNvSpPr>
              <a:spLocks/>
            </p:cNvSpPr>
            <p:nvPr/>
          </p:nvSpPr>
          <p:spPr bwMode="auto">
            <a:xfrm>
              <a:off x="8" y="0"/>
              <a:ext cx="2600" cy="1288"/>
            </a:xfrm>
            <a:prstGeom prst="roundRect">
              <a:avLst>
                <a:gd name="adj" fmla="val 14903"/>
              </a:avLst>
            </a:prstGeom>
            <a:blipFill dpi="0" rotWithShape="0">
              <a:blip r:embed="rId2"/>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defRPr/>
              </a:pPr>
              <a:endParaRPr lang="en-US">
                <a:latin typeface="Gill Sans" pitchFamily="80" charset="0"/>
                <a:ea typeface="ヒラギノ角ゴ Pro W3" pitchFamily="80" charset="-128"/>
                <a:sym typeface="Gill Sans" pitchFamily="80" charset="0"/>
              </a:endParaRPr>
            </a:p>
          </p:txBody>
        </p:sp>
        <p:sp>
          <p:nvSpPr>
            <p:cNvPr id="7" name="Rectangle 4"/>
            <p:cNvSpPr>
              <a:spLocks/>
            </p:cNvSpPr>
            <p:nvPr/>
          </p:nvSpPr>
          <p:spPr bwMode="auto">
            <a:xfrm>
              <a:off x="96" y="392"/>
              <a:ext cx="1768" cy="832"/>
            </a:xfrm>
            <a:prstGeom prst="rect">
              <a:avLst/>
            </a:prstGeom>
            <a:noFill/>
            <a:ln w="9525">
              <a:noFill/>
              <a:miter lim="800000"/>
              <a:headEnd/>
              <a:tailEnd/>
            </a:ln>
          </p:spPr>
          <p:txBody>
            <a:bodyPr lIns="50800" tIns="50800" rIns="50800" bIns="50800"/>
            <a:lstStyle/>
            <a:p>
              <a:pPr algn="l">
                <a:buClr>
                  <a:srgbClr val="FFFFFF"/>
                </a:buClr>
                <a:buSzPct val="125000"/>
                <a:buFont typeface="Gill Sans" charset="0"/>
                <a:buChar char="•"/>
                <a:tabLst>
                  <a:tab pos="1066800" algn="l"/>
                </a:tabLst>
              </a:pPr>
              <a:r>
                <a:rPr lang="en-US" sz="2800">
                  <a:solidFill>
                    <a:srgbClr val="FFFFFF"/>
                  </a:solidFill>
                </a:rPr>
                <a:t>Product owner</a:t>
              </a:r>
            </a:p>
            <a:p>
              <a:pPr algn="l">
                <a:buClr>
                  <a:srgbClr val="FFFFFF"/>
                </a:buClr>
                <a:buSzPct val="125000"/>
                <a:buFont typeface="Gill Sans" charset="0"/>
                <a:buChar char="•"/>
                <a:tabLst>
                  <a:tab pos="1066800" algn="l"/>
                </a:tabLst>
              </a:pPr>
              <a:r>
                <a:rPr lang="en-US" sz="2800">
                  <a:solidFill>
                    <a:srgbClr val="FFFFFF"/>
                  </a:solidFill>
                </a:rPr>
                <a:t>ScrumMaster</a:t>
              </a:r>
            </a:p>
            <a:p>
              <a:pPr algn="l">
                <a:buClr>
                  <a:srgbClr val="FFFFFF"/>
                </a:buClr>
                <a:buSzPct val="125000"/>
                <a:buFont typeface="Gill Sans" charset="0"/>
                <a:buChar char="•"/>
                <a:tabLst>
                  <a:tab pos="1066800" algn="l"/>
                </a:tabLst>
              </a:pPr>
              <a:r>
                <a:rPr lang="en-US" sz="2800">
                  <a:solidFill>
                    <a:srgbClr val="FFFFFF"/>
                  </a:solidFill>
                </a:rPr>
                <a:t>Team</a:t>
              </a:r>
            </a:p>
          </p:txBody>
        </p:sp>
        <p:sp>
          <p:nvSpPr>
            <p:cNvPr id="8" name="Rectangle 5"/>
            <p:cNvSpPr>
              <a:spLocks/>
            </p:cNvSpPr>
            <p:nvPr/>
          </p:nvSpPr>
          <p:spPr bwMode="auto">
            <a:xfrm>
              <a:off x="304" y="0"/>
              <a:ext cx="1200" cy="376"/>
            </a:xfrm>
            <a:prstGeom prst="rect">
              <a:avLst/>
            </a:prstGeom>
            <a:solidFill>
              <a:srgbClr val="003C83"/>
            </a:solidFill>
            <a:ln w="25400">
              <a:noFill/>
              <a:miter lim="800000"/>
              <a:headEnd/>
              <a:tailEnd/>
            </a:ln>
          </p:spPr>
          <p:txBody>
            <a:bodyPr/>
            <a:lstStyle/>
            <a:p>
              <a:endParaRPr lang="en-US"/>
            </a:p>
          </p:txBody>
        </p:sp>
        <p:sp>
          <p:nvSpPr>
            <p:cNvPr id="9" name="AutoShape 6"/>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10" name="AutoShape 7"/>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11" name="Rectangle 8"/>
            <p:cNvSpPr>
              <a:spLocks/>
            </p:cNvSpPr>
            <p:nvPr/>
          </p:nvSpPr>
          <p:spPr bwMode="auto">
            <a:xfrm>
              <a:off x="0" y="216"/>
              <a:ext cx="392" cy="160"/>
            </a:xfrm>
            <a:prstGeom prst="rect">
              <a:avLst/>
            </a:prstGeom>
            <a:solidFill>
              <a:srgbClr val="003C83"/>
            </a:solidFill>
            <a:ln w="25400">
              <a:noFill/>
              <a:miter lim="800000"/>
              <a:headEnd/>
              <a:tailEnd/>
            </a:ln>
          </p:spPr>
          <p:txBody>
            <a:bodyPr/>
            <a:lstStyle/>
            <a:p>
              <a:endParaRPr lang="en-US"/>
            </a:p>
          </p:txBody>
        </p:sp>
        <p:sp>
          <p:nvSpPr>
            <p:cNvPr id="12" name="Rectangle 9"/>
            <p:cNvSpPr>
              <a:spLocks/>
            </p:cNvSpPr>
            <p:nvPr/>
          </p:nvSpPr>
          <p:spPr bwMode="auto">
            <a:xfrm>
              <a:off x="1352" y="0"/>
              <a:ext cx="392" cy="160"/>
            </a:xfrm>
            <a:prstGeom prst="rect">
              <a:avLst/>
            </a:prstGeom>
            <a:solidFill>
              <a:srgbClr val="003C83"/>
            </a:solidFill>
            <a:ln w="25400">
              <a:noFill/>
              <a:miter lim="800000"/>
              <a:headEnd/>
              <a:tailEnd/>
            </a:ln>
          </p:spPr>
          <p:txBody>
            <a:bodyPr/>
            <a:lstStyle/>
            <a:p>
              <a:endParaRPr lang="en-US"/>
            </a:p>
          </p:txBody>
        </p:sp>
        <p:sp>
          <p:nvSpPr>
            <p:cNvPr id="13" name="Rectangle 10"/>
            <p:cNvSpPr>
              <a:spLocks/>
            </p:cNvSpPr>
            <p:nvPr/>
          </p:nvSpPr>
          <p:spPr bwMode="auto">
            <a:xfrm>
              <a:off x="104" y="8"/>
              <a:ext cx="1336" cy="352"/>
            </a:xfrm>
            <a:prstGeom prst="rect">
              <a:avLst/>
            </a:prstGeom>
            <a:noFill/>
            <a:ln w="9525">
              <a:noFill/>
              <a:miter lim="800000"/>
              <a:headEnd/>
              <a:tailEnd/>
            </a:ln>
          </p:spPr>
          <p:txBody>
            <a:bodyPr lIns="50800" tIns="50800" rIns="50800" bIns="50800"/>
            <a:lstStyle/>
            <a:p>
              <a:pPr algn="l">
                <a:tabLst>
                  <a:tab pos="1066800" algn="l"/>
                </a:tabLst>
              </a:pPr>
              <a:r>
                <a:rPr lang="en-US">
                  <a:solidFill>
                    <a:srgbClr val="FFFFFF"/>
                  </a:solidFill>
                </a:rPr>
                <a:t>Roles</a:t>
              </a:r>
            </a:p>
          </p:txBody>
        </p:sp>
      </p:grpSp>
      <p:grpSp>
        <p:nvGrpSpPr>
          <p:cNvPr id="14" name="Group 11"/>
          <p:cNvGrpSpPr>
            <a:grpSpLocks/>
          </p:cNvGrpSpPr>
          <p:nvPr/>
        </p:nvGrpSpPr>
        <p:grpSpPr bwMode="auto">
          <a:xfrm>
            <a:off x="2743200" y="2209800"/>
            <a:ext cx="3835400" cy="2244745"/>
            <a:chOff x="0" y="0"/>
            <a:chExt cx="2608" cy="1592"/>
          </a:xfrm>
        </p:grpSpPr>
        <p:sp>
          <p:nvSpPr>
            <p:cNvPr id="15" name="AutoShape 12"/>
            <p:cNvSpPr>
              <a:spLocks/>
            </p:cNvSpPr>
            <p:nvPr/>
          </p:nvSpPr>
          <p:spPr bwMode="auto">
            <a:xfrm>
              <a:off x="8" y="0"/>
              <a:ext cx="2600" cy="1592"/>
            </a:xfrm>
            <a:prstGeom prst="roundRect">
              <a:avLst>
                <a:gd name="adj" fmla="val 12060"/>
              </a:avLst>
            </a:prstGeom>
            <a:blipFill dpi="0" rotWithShape="0">
              <a:blip r:embed="rId2"/>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defRPr/>
              </a:pPr>
              <a:endParaRPr lang="en-US">
                <a:latin typeface="Gill Sans" pitchFamily="80" charset="0"/>
                <a:ea typeface="ヒラギノ角ゴ Pro W3" pitchFamily="80" charset="-128"/>
                <a:sym typeface="Gill Sans" pitchFamily="80" charset="0"/>
              </a:endParaRPr>
            </a:p>
          </p:txBody>
        </p:sp>
        <p:sp>
          <p:nvSpPr>
            <p:cNvPr id="16" name="Rectangle 13"/>
            <p:cNvSpPr>
              <a:spLocks/>
            </p:cNvSpPr>
            <p:nvPr/>
          </p:nvSpPr>
          <p:spPr bwMode="auto">
            <a:xfrm>
              <a:off x="96" y="392"/>
              <a:ext cx="2320" cy="1088"/>
            </a:xfrm>
            <a:prstGeom prst="rect">
              <a:avLst/>
            </a:prstGeom>
            <a:noFill/>
            <a:ln w="9525">
              <a:noFill/>
              <a:miter lim="800000"/>
              <a:headEnd/>
              <a:tailEnd/>
            </a:ln>
          </p:spPr>
          <p:txBody>
            <a:bodyPr lIns="50800" tIns="50800" rIns="50800" bIns="50800"/>
            <a:lstStyle/>
            <a:p>
              <a:pPr algn="l">
                <a:buClr>
                  <a:srgbClr val="FFFFFF"/>
                </a:buClr>
                <a:buSzPct val="125000"/>
                <a:buFont typeface="Gill Sans" charset="0"/>
                <a:buChar char="•"/>
                <a:tabLst>
                  <a:tab pos="1066800" algn="l"/>
                </a:tabLst>
              </a:pPr>
              <a:r>
                <a:rPr lang="en-US" sz="2800" dirty="0">
                  <a:solidFill>
                    <a:srgbClr val="FFFFFF"/>
                  </a:solidFill>
                </a:rPr>
                <a:t>Sprint planning</a:t>
              </a:r>
            </a:p>
            <a:p>
              <a:pPr algn="l">
                <a:buClr>
                  <a:srgbClr val="FFFFFF"/>
                </a:buClr>
                <a:buSzPct val="125000"/>
                <a:buFont typeface="Gill Sans" charset="0"/>
                <a:buChar char="•"/>
                <a:tabLst>
                  <a:tab pos="1066800" algn="l"/>
                </a:tabLst>
              </a:pPr>
              <a:r>
                <a:rPr lang="en-US" sz="2800" dirty="0">
                  <a:solidFill>
                    <a:srgbClr val="FFFFFF"/>
                  </a:solidFill>
                </a:rPr>
                <a:t>Sprint review</a:t>
              </a:r>
            </a:p>
            <a:p>
              <a:pPr algn="l">
                <a:buClr>
                  <a:srgbClr val="FFFFFF"/>
                </a:buClr>
                <a:buSzPct val="125000"/>
                <a:buFont typeface="Gill Sans" charset="0"/>
                <a:buChar char="•"/>
                <a:tabLst>
                  <a:tab pos="1066800" algn="l"/>
                </a:tabLst>
              </a:pPr>
              <a:r>
                <a:rPr lang="en-US" sz="2800" dirty="0">
                  <a:solidFill>
                    <a:srgbClr val="FFFFFF"/>
                  </a:solidFill>
                </a:rPr>
                <a:t>Sprint retrospective</a:t>
              </a:r>
            </a:p>
            <a:p>
              <a:pPr algn="l">
                <a:buClr>
                  <a:srgbClr val="FFFFFF"/>
                </a:buClr>
                <a:buSzPct val="125000"/>
                <a:buFont typeface="Gill Sans" charset="0"/>
                <a:buChar char="•"/>
                <a:tabLst>
                  <a:tab pos="1066800" algn="l"/>
                </a:tabLst>
              </a:pPr>
              <a:r>
                <a:rPr lang="en-US" sz="2800" dirty="0">
                  <a:solidFill>
                    <a:srgbClr val="FFFFFF"/>
                  </a:solidFill>
                </a:rPr>
                <a:t>Daily scrum meeting</a:t>
              </a:r>
            </a:p>
          </p:txBody>
        </p:sp>
        <p:sp>
          <p:nvSpPr>
            <p:cNvPr id="17" name="Rectangle 14"/>
            <p:cNvSpPr>
              <a:spLocks/>
            </p:cNvSpPr>
            <p:nvPr/>
          </p:nvSpPr>
          <p:spPr bwMode="auto">
            <a:xfrm>
              <a:off x="304" y="0"/>
              <a:ext cx="1200" cy="376"/>
            </a:xfrm>
            <a:prstGeom prst="rect">
              <a:avLst/>
            </a:prstGeom>
            <a:solidFill>
              <a:srgbClr val="003C83"/>
            </a:solidFill>
            <a:ln w="25400">
              <a:noFill/>
              <a:miter lim="800000"/>
              <a:headEnd/>
              <a:tailEnd/>
            </a:ln>
          </p:spPr>
          <p:txBody>
            <a:bodyPr/>
            <a:lstStyle/>
            <a:p>
              <a:endParaRPr lang="en-US"/>
            </a:p>
          </p:txBody>
        </p:sp>
        <p:sp>
          <p:nvSpPr>
            <p:cNvPr id="18" name="AutoShape 15"/>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19" name="AutoShape 16"/>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20" name="Rectangle 17"/>
            <p:cNvSpPr>
              <a:spLocks/>
            </p:cNvSpPr>
            <p:nvPr/>
          </p:nvSpPr>
          <p:spPr bwMode="auto">
            <a:xfrm>
              <a:off x="0" y="216"/>
              <a:ext cx="392" cy="160"/>
            </a:xfrm>
            <a:prstGeom prst="rect">
              <a:avLst/>
            </a:prstGeom>
            <a:solidFill>
              <a:srgbClr val="003C83"/>
            </a:solidFill>
            <a:ln w="25400">
              <a:noFill/>
              <a:miter lim="800000"/>
              <a:headEnd/>
              <a:tailEnd/>
            </a:ln>
          </p:spPr>
          <p:txBody>
            <a:bodyPr/>
            <a:lstStyle/>
            <a:p>
              <a:endParaRPr lang="en-US"/>
            </a:p>
          </p:txBody>
        </p:sp>
        <p:sp>
          <p:nvSpPr>
            <p:cNvPr id="21" name="Rectangle 18"/>
            <p:cNvSpPr>
              <a:spLocks/>
            </p:cNvSpPr>
            <p:nvPr/>
          </p:nvSpPr>
          <p:spPr bwMode="auto">
            <a:xfrm>
              <a:off x="1352" y="0"/>
              <a:ext cx="392" cy="160"/>
            </a:xfrm>
            <a:prstGeom prst="rect">
              <a:avLst/>
            </a:prstGeom>
            <a:solidFill>
              <a:srgbClr val="003C83"/>
            </a:solidFill>
            <a:ln w="25400">
              <a:noFill/>
              <a:miter lim="800000"/>
              <a:headEnd/>
              <a:tailEnd/>
            </a:ln>
          </p:spPr>
          <p:txBody>
            <a:bodyPr/>
            <a:lstStyle/>
            <a:p>
              <a:endParaRPr lang="en-US"/>
            </a:p>
          </p:txBody>
        </p:sp>
        <p:sp>
          <p:nvSpPr>
            <p:cNvPr id="22" name="Rectangle 19"/>
            <p:cNvSpPr>
              <a:spLocks/>
            </p:cNvSpPr>
            <p:nvPr/>
          </p:nvSpPr>
          <p:spPr bwMode="auto">
            <a:xfrm>
              <a:off x="104" y="8"/>
              <a:ext cx="1512" cy="352"/>
            </a:xfrm>
            <a:prstGeom prst="rect">
              <a:avLst/>
            </a:prstGeom>
            <a:noFill/>
            <a:ln w="9525">
              <a:noFill/>
              <a:miter lim="800000"/>
              <a:headEnd/>
              <a:tailEnd/>
            </a:ln>
          </p:spPr>
          <p:txBody>
            <a:bodyPr lIns="50800" tIns="50800" rIns="50800" bIns="50800"/>
            <a:lstStyle/>
            <a:p>
              <a:pPr algn="l">
                <a:tabLst>
                  <a:tab pos="1066800" algn="l"/>
                </a:tabLst>
              </a:pPr>
              <a:r>
                <a:rPr lang="en-US">
                  <a:solidFill>
                    <a:srgbClr val="FFFFFF"/>
                  </a:solidFill>
                </a:rPr>
                <a:t>Ceremonies</a:t>
              </a:r>
            </a:p>
          </p:txBody>
        </p:sp>
      </p:grpSp>
      <p:grpSp>
        <p:nvGrpSpPr>
          <p:cNvPr id="23" name="Group 20"/>
          <p:cNvGrpSpPr>
            <a:grpSpLocks/>
          </p:cNvGrpSpPr>
          <p:nvPr/>
        </p:nvGrpSpPr>
        <p:grpSpPr bwMode="auto">
          <a:xfrm>
            <a:off x="4686300" y="4568846"/>
            <a:ext cx="3835400" cy="1816100"/>
            <a:chOff x="0" y="0"/>
            <a:chExt cx="2608" cy="1288"/>
          </a:xfrm>
        </p:grpSpPr>
        <p:sp>
          <p:nvSpPr>
            <p:cNvPr id="24" name="AutoShape 21"/>
            <p:cNvSpPr>
              <a:spLocks/>
            </p:cNvSpPr>
            <p:nvPr/>
          </p:nvSpPr>
          <p:spPr bwMode="auto">
            <a:xfrm>
              <a:off x="8" y="0"/>
              <a:ext cx="2600" cy="1288"/>
            </a:xfrm>
            <a:prstGeom prst="roundRect">
              <a:avLst>
                <a:gd name="adj" fmla="val 14903"/>
              </a:avLst>
            </a:prstGeom>
            <a:blipFill dpi="0" rotWithShape="0">
              <a:blip r:embed="rId2"/>
              <a:srcRect/>
              <a:tile tx="0" ty="0" sx="100000" sy="100000" flip="none" algn="tl"/>
            </a:blipFill>
            <a:ln w="25400">
              <a:solidFill>
                <a:srgbClr val="003C83"/>
              </a:solidFill>
              <a:round/>
              <a:headEnd/>
              <a:tailEnd/>
            </a:ln>
            <a:effectLst>
              <a:outerShdw blurRad="114300" dist="63500" dir="2700000" algn="ctr" rotWithShape="0">
                <a:schemeClr val="bg2">
                  <a:alpha val="29999"/>
                </a:schemeClr>
              </a:outerShdw>
            </a:effectLst>
          </p:spPr>
          <p:txBody>
            <a:bodyPr/>
            <a:lstStyle/>
            <a:p>
              <a:pPr>
                <a:defRPr/>
              </a:pPr>
              <a:endParaRPr lang="en-US">
                <a:latin typeface="Gill Sans" pitchFamily="80" charset="0"/>
                <a:ea typeface="ヒラギノ角ゴ Pro W3" pitchFamily="80" charset="-128"/>
                <a:sym typeface="Gill Sans" pitchFamily="80" charset="0"/>
              </a:endParaRPr>
            </a:p>
          </p:txBody>
        </p:sp>
        <p:sp>
          <p:nvSpPr>
            <p:cNvPr id="25" name="Rectangle 22"/>
            <p:cNvSpPr>
              <a:spLocks/>
            </p:cNvSpPr>
            <p:nvPr/>
          </p:nvSpPr>
          <p:spPr bwMode="auto">
            <a:xfrm>
              <a:off x="96" y="392"/>
              <a:ext cx="2376" cy="832"/>
            </a:xfrm>
            <a:prstGeom prst="rect">
              <a:avLst/>
            </a:prstGeom>
            <a:noFill/>
            <a:ln w="9525">
              <a:noFill/>
              <a:miter lim="800000"/>
              <a:headEnd/>
              <a:tailEnd/>
            </a:ln>
          </p:spPr>
          <p:txBody>
            <a:bodyPr lIns="50800" tIns="50800" rIns="50800" bIns="50800"/>
            <a:lstStyle/>
            <a:p>
              <a:pPr algn="l">
                <a:buClr>
                  <a:srgbClr val="FFFFFF"/>
                </a:buClr>
                <a:buSzPct val="125000"/>
                <a:buFont typeface="Gill Sans" charset="0"/>
                <a:buChar char="•"/>
                <a:tabLst>
                  <a:tab pos="1066800" algn="l"/>
                </a:tabLst>
              </a:pPr>
              <a:r>
                <a:rPr lang="en-US" sz="2800" dirty="0">
                  <a:solidFill>
                    <a:srgbClr val="FFFFFF"/>
                  </a:solidFill>
                </a:rPr>
                <a:t>Product backlog</a:t>
              </a:r>
            </a:p>
            <a:p>
              <a:pPr algn="l">
                <a:buClr>
                  <a:srgbClr val="FFFFFF"/>
                </a:buClr>
                <a:buSzPct val="125000"/>
                <a:buFont typeface="Gill Sans" charset="0"/>
                <a:buChar char="•"/>
                <a:tabLst>
                  <a:tab pos="1066800" algn="l"/>
                </a:tabLst>
              </a:pPr>
              <a:r>
                <a:rPr lang="en-US" sz="2800" dirty="0">
                  <a:solidFill>
                    <a:srgbClr val="FFFFFF"/>
                  </a:solidFill>
                </a:rPr>
                <a:t>Sprint backlog</a:t>
              </a:r>
            </a:p>
            <a:p>
              <a:pPr algn="l">
                <a:buClr>
                  <a:srgbClr val="FFFFFF"/>
                </a:buClr>
                <a:buSzPct val="125000"/>
                <a:buFont typeface="Gill Sans" charset="0"/>
                <a:buChar char="•"/>
                <a:tabLst>
                  <a:tab pos="1066800" algn="l"/>
                </a:tabLst>
              </a:pPr>
              <a:r>
                <a:rPr lang="en-US" sz="2800" dirty="0" err="1">
                  <a:solidFill>
                    <a:srgbClr val="FFFFFF"/>
                  </a:solidFill>
                </a:rPr>
                <a:t>Burndown</a:t>
              </a:r>
              <a:r>
                <a:rPr lang="en-US" sz="2800" dirty="0">
                  <a:solidFill>
                    <a:srgbClr val="FFFFFF"/>
                  </a:solidFill>
                </a:rPr>
                <a:t> charts</a:t>
              </a:r>
            </a:p>
          </p:txBody>
        </p:sp>
        <p:sp>
          <p:nvSpPr>
            <p:cNvPr id="26" name="Rectangle 23"/>
            <p:cNvSpPr>
              <a:spLocks/>
            </p:cNvSpPr>
            <p:nvPr/>
          </p:nvSpPr>
          <p:spPr bwMode="auto">
            <a:xfrm>
              <a:off x="304" y="0"/>
              <a:ext cx="1200" cy="376"/>
            </a:xfrm>
            <a:prstGeom prst="rect">
              <a:avLst/>
            </a:prstGeom>
            <a:solidFill>
              <a:srgbClr val="003C83"/>
            </a:solidFill>
            <a:ln w="25400">
              <a:noFill/>
              <a:miter lim="800000"/>
              <a:headEnd/>
              <a:tailEnd/>
            </a:ln>
          </p:spPr>
          <p:txBody>
            <a:bodyPr/>
            <a:lstStyle/>
            <a:p>
              <a:endParaRPr lang="en-US"/>
            </a:p>
          </p:txBody>
        </p:sp>
        <p:sp>
          <p:nvSpPr>
            <p:cNvPr id="27" name="AutoShape 24"/>
            <p:cNvSpPr>
              <a:spLocks/>
            </p:cNvSpPr>
            <p:nvPr/>
          </p:nvSpPr>
          <p:spPr bwMode="auto">
            <a:xfrm rot="10800000">
              <a:off x="1432" y="88"/>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28" name="AutoShape 25"/>
            <p:cNvSpPr>
              <a:spLocks/>
            </p:cNvSpPr>
            <p:nvPr/>
          </p:nvSpPr>
          <p:spPr bwMode="auto">
            <a:xfrm>
              <a:off x="0" y="0"/>
              <a:ext cx="312" cy="28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w="25400">
              <a:noFill/>
              <a:miter lim="800000"/>
              <a:headEnd/>
              <a:tailEnd/>
            </a:ln>
          </p:spPr>
          <p:txBody>
            <a:bodyPr/>
            <a:lstStyle/>
            <a:p>
              <a:endParaRPr lang="en-US"/>
            </a:p>
          </p:txBody>
        </p:sp>
        <p:sp>
          <p:nvSpPr>
            <p:cNvPr id="29" name="Rectangle 26"/>
            <p:cNvSpPr>
              <a:spLocks/>
            </p:cNvSpPr>
            <p:nvPr/>
          </p:nvSpPr>
          <p:spPr bwMode="auto">
            <a:xfrm>
              <a:off x="0" y="216"/>
              <a:ext cx="392" cy="160"/>
            </a:xfrm>
            <a:prstGeom prst="rect">
              <a:avLst/>
            </a:prstGeom>
            <a:solidFill>
              <a:srgbClr val="003C83"/>
            </a:solidFill>
            <a:ln w="25400">
              <a:noFill/>
              <a:miter lim="800000"/>
              <a:headEnd/>
              <a:tailEnd/>
            </a:ln>
          </p:spPr>
          <p:txBody>
            <a:bodyPr/>
            <a:lstStyle/>
            <a:p>
              <a:endParaRPr lang="en-US"/>
            </a:p>
          </p:txBody>
        </p:sp>
        <p:sp>
          <p:nvSpPr>
            <p:cNvPr id="30" name="Rectangle 27"/>
            <p:cNvSpPr>
              <a:spLocks/>
            </p:cNvSpPr>
            <p:nvPr/>
          </p:nvSpPr>
          <p:spPr bwMode="auto">
            <a:xfrm>
              <a:off x="1352" y="0"/>
              <a:ext cx="392" cy="160"/>
            </a:xfrm>
            <a:prstGeom prst="rect">
              <a:avLst/>
            </a:prstGeom>
            <a:solidFill>
              <a:srgbClr val="003C83"/>
            </a:solidFill>
            <a:ln w="25400">
              <a:noFill/>
              <a:miter lim="800000"/>
              <a:headEnd/>
              <a:tailEnd/>
            </a:ln>
          </p:spPr>
          <p:txBody>
            <a:bodyPr/>
            <a:lstStyle/>
            <a:p>
              <a:endParaRPr lang="en-US"/>
            </a:p>
          </p:txBody>
        </p:sp>
        <p:sp>
          <p:nvSpPr>
            <p:cNvPr id="31" name="Rectangle 28"/>
            <p:cNvSpPr>
              <a:spLocks/>
            </p:cNvSpPr>
            <p:nvPr/>
          </p:nvSpPr>
          <p:spPr bwMode="auto">
            <a:xfrm>
              <a:off x="104" y="8"/>
              <a:ext cx="1336" cy="352"/>
            </a:xfrm>
            <a:prstGeom prst="rect">
              <a:avLst/>
            </a:prstGeom>
            <a:noFill/>
            <a:ln w="9525">
              <a:noFill/>
              <a:miter lim="800000"/>
              <a:headEnd/>
              <a:tailEnd/>
            </a:ln>
          </p:spPr>
          <p:txBody>
            <a:bodyPr lIns="50800" tIns="50800" rIns="50800" bIns="50800"/>
            <a:lstStyle/>
            <a:p>
              <a:pPr algn="l">
                <a:tabLst>
                  <a:tab pos="1066800" algn="l"/>
                </a:tabLst>
              </a:pPr>
              <a:r>
                <a:rPr lang="en-US">
                  <a:solidFill>
                    <a:srgbClr val="FFFFFF"/>
                  </a:solidFill>
                </a:rPr>
                <a:t>Artifacts</a:t>
              </a: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Roles</a:t>
            </a:r>
            <a:endParaRPr lang="en-US" dirty="0"/>
          </a:p>
        </p:txBody>
      </p:sp>
      <p:sp>
        <p:nvSpPr>
          <p:cNvPr id="3" name="Subtitle 2"/>
          <p:cNvSpPr>
            <a:spLocks noGrp="1"/>
          </p:cNvSpPr>
          <p:nvPr>
            <p:ph type="subTitle" idx="1"/>
          </p:nvPr>
        </p:nvSpPr>
        <p:spPr/>
        <p:txBody>
          <a:bodyPr>
            <a:normAutofit fontScale="70000" lnSpcReduction="20000"/>
          </a:bodyPr>
          <a:lstStyle/>
          <a:p>
            <a:r>
              <a:rPr lang="en-US" dirty="0" smtClean="0"/>
              <a:t>Scrum Team comprises of</a:t>
            </a:r>
          </a:p>
          <a:p>
            <a:r>
              <a:rPr lang="en-US" dirty="0" smtClean="0"/>
              <a:t>Scrum Master (SM)</a:t>
            </a:r>
          </a:p>
          <a:p>
            <a:r>
              <a:rPr lang="en-US" dirty="0" smtClean="0"/>
              <a:t>Product Owner (PO)</a:t>
            </a:r>
          </a:p>
          <a:p>
            <a:r>
              <a:rPr lang="en-US" dirty="0" smtClean="0"/>
              <a:t>Development Team (Cross-functional professionals)</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Scrum Events</a:t>
            </a:r>
            <a:endParaRPr lang="en-US" dirty="0"/>
          </a:p>
        </p:txBody>
      </p:sp>
      <p:sp>
        <p:nvSpPr>
          <p:cNvPr id="3" name="Subtitle 2"/>
          <p:cNvSpPr>
            <a:spLocks noGrp="1"/>
          </p:cNvSpPr>
          <p:nvPr>
            <p:ph type="subTitle" idx="1"/>
          </p:nvPr>
        </p:nvSpPr>
        <p:spPr>
          <a:xfrm>
            <a:off x="1371600" y="3581400"/>
            <a:ext cx="6400800" cy="2057400"/>
          </a:xfrm>
        </p:spPr>
        <p:txBody>
          <a:bodyPr>
            <a:normAutofit fontScale="85000" lnSpcReduction="20000"/>
          </a:bodyPr>
          <a:lstStyle/>
          <a:p>
            <a:r>
              <a:rPr lang="en-US" b="1" dirty="0" smtClean="0"/>
              <a:t>Sprint Planning</a:t>
            </a:r>
            <a:endParaRPr lang="en-US" dirty="0" smtClean="0"/>
          </a:p>
          <a:p>
            <a:r>
              <a:rPr lang="en-US" b="1" dirty="0" smtClean="0"/>
              <a:t>Daily Scrum</a:t>
            </a:r>
            <a:endParaRPr lang="en-US" dirty="0" smtClean="0"/>
          </a:p>
          <a:p>
            <a:r>
              <a:rPr lang="en-US" b="1" dirty="0" smtClean="0"/>
              <a:t>Sprint Review</a:t>
            </a:r>
          </a:p>
          <a:p>
            <a:r>
              <a:rPr lang="en-US" b="1" dirty="0" smtClean="0"/>
              <a:t>Sprint Retrospective</a:t>
            </a:r>
            <a:br>
              <a:rPr lang="en-US" b="1" dirty="0" smtClean="0"/>
            </a:br>
            <a:r>
              <a:rPr lang="en-US" b="1" dirty="0" smtClean="0"/>
              <a:t>Refinement Meetings</a:t>
            </a:r>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Artifacts</a:t>
            </a:r>
            <a:endParaRPr lang="en-US" dirty="0"/>
          </a:p>
        </p:txBody>
      </p:sp>
      <p:sp>
        <p:nvSpPr>
          <p:cNvPr id="3" name="Subtitle 2"/>
          <p:cNvSpPr>
            <a:spLocks noGrp="1"/>
          </p:cNvSpPr>
          <p:nvPr>
            <p:ph type="subTitle" idx="1"/>
          </p:nvPr>
        </p:nvSpPr>
        <p:spPr/>
        <p:txBody>
          <a:bodyPr>
            <a:normAutofit fontScale="85000" lnSpcReduction="20000"/>
          </a:bodyPr>
          <a:lstStyle/>
          <a:p>
            <a:r>
              <a:rPr lang="en-US" b="1" dirty="0" smtClean="0"/>
              <a:t>Product Backlog</a:t>
            </a:r>
            <a:endParaRPr lang="en-US" dirty="0" smtClean="0"/>
          </a:p>
          <a:p>
            <a:r>
              <a:rPr lang="en-US" dirty="0" smtClean="0"/>
              <a:t> </a:t>
            </a:r>
            <a:r>
              <a:rPr lang="en-US" b="1" dirty="0" smtClean="0"/>
              <a:t>Sprint </a:t>
            </a:r>
            <a:r>
              <a:rPr lang="en-US" b="1" dirty="0" smtClean="0"/>
              <a:t>Backlog</a:t>
            </a:r>
          </a:p>
          <a:p>
            <a:r>
              <a:rPr lang="en-US" b="1" dirty="0" smtClean="0"/>
              <a:t>Task </a:t>
            </a:r>
            <a:r>
              <a:rPr lang="en-US" b="1" dirty="0" err="1" smtClean="0"/>
              <a:t>Dashbord</a:t>
            </a:r>
            <a:endParaRPr lang="en-US" b="1" dirty="0" smtClean="0"/>
          </a:p>
          <a:p>
            <a:r>
              <a:rPr lang="en-US" dirty="0" err="1" smtClean="0"/>
              <a:t>Burndown</a:t>
            </a:r>
            <a:r>
              <a:rPr lang="en-US" dirty="0" smtClean="0"/>
              <a:t> </a:t>
            </a:r>
            <a:r>
              <a:rPr lang="en-US" dirty="0" smtClean="0"/>
              <a:t>charts</a:t>
            </a:r>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143000" y="381000"/>
            <a:ext cx="6400800" cy="609600"/>
          </a:xfrm>
        </p:spPr>
        <p:txBody>
          <a:bodyPr/>
          <a:lstStyle/>
          <a:p>
            <a:r>
              <a:rPr lang="en-US" b="1" dirty="0" smtClean="0"/>
              <a:t>Agile Scrum</a:t>
            </a:r>
            <a:endParaRPr lang="en-US" b="1" dirty="0"/>
          </a:p>
        </p:txBody>
      </p:sp>
      <p:sp>
        <p:nvSpPr>
          <p:cNvPr id="5" name="Title 4"/>
          <p:cNvSpPr>
            <a:spLocks noGrp="1"/>
          </p:cNvSpPr>
          <p:nvPr>
            <p:ph type="ctrTitle"/>
          </p:nvPr>
        </p:nvSpPr>
        <p:spPr/>
        <p:txBody>
          <a:bodyPr/>
          <a:lstStyle/>
          <a:p>
            <a:endParaRPr lang="en-US" dirty="0"/>
          </a:p>
        </p:txBody>
      </p:sp>
      <p:pic>
        <p:nvPicPr>
          <p:cNvPr id="21505" name="Picture 1" descr="C:\Users\Ashish GC\Google Drive\1. Learning  &amp; Out OF Boundary\Agile\agile scrum\650px-Scrumframework.jpg"/>
          <p:cNvPicPr>
            <a:picLocks noChangeAspect="1" noChangeArrowheads="1"/>
          </p:cNvPicPr>
          <p:nvPr/>
        </p:nvPicPr>
        <p:blipFill>
          <a:blip r:embed="rId2"/>
          <a:srcRect/>
          <a:stretch>
            <a:fillRect/>
          </a:stretch>
        </p:blipFill>
        <p:spPr bwMode="auto">
          <a:xfrm>
            <a:off x="304800" y="1676400"/>
            <a:ext cx="8442959" cy="4465027"/>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i="1" dirty="0" smtClean="0"/>
              <a:t>“Scrum is kind of like poker; you can learn the rules in 10 minutes, but it takes a long time to get great at it.”</a:t>
            </a:r>
            <a:endParaRPr lang="en-US" dirty="0"/>
          </a:p>
        </p:txBody>
      </p:sp>
      <p:sp>
        <p:nvSpPr>
          <p:cNvPr id="4" name="Subtitle 3"/>
          <p:cNvSpPr>
            <a:spLocks noGrp="1"/>
          </p:cNvSpPr>
          <p:nvPr>
            <p:ph type="subTitle" idx="1"/>
          </p:nvPr>
        </p:nvSpPr>
        <p:spPr>
          <a:xfrm>
            <a:off x="1143000" y="914400"/>
            <a:ext cx="6400800" cy="609600"/>
          </a:xfrm>
        </p:spPr>
        <p:txBody>
          <a:bodyPr/>
          <a:lstStyle/>
          <a:p>
            <a:r>
              <a:rPr lang="en-US" b="1" dirty="0" smtClean="0"/>
              <a:t>Agile Scrum</a:t>
            </a:r>
            <a:endParaRPr lang="en-US" b="1"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b="1" dirty="0" smtClean="0"/>
              <a:t>Agile </a:t>
            </a:r>
            <a:r>
              <a:rPr lang="en-US" b="1" dirty="0" smtClean="0"/>
              <a:t>Scrum Content</a:t>
            </a:r>
            <a:endParaRPr lang="en-US" dirty="0"/>
          </a:p>
        </p:txBody>
      </p:sp>
      <p:sp>
        <p:nvSpPr>
          <p:cNvPr id="4" name="Subtitle 3"/>
          <p:cNvSpPr>
            <a:spLocks noGrp="1"/>
          </p:cNvSpPr>
          <p:nvPr>
            <p:ph idx="1"/>
          </p:nvPr>
        </p:nvSpPr>
        <p:spPr/>
        <p:txBody>
          <a:bodyPr>
            <a:normAutofit/>
          </a:bodyPr>
          <a:lstStyle/>
          <a:p>
            <a:r>
              <a:rPr lang="en-US" sz="3600" dirty="0" smtClean="0"/>
              <a:t>1</a:t>
            </a:r>
            <a:r>
              <a:rPr lang="en-US" sz="3600" baseline="30000" dirty="0" smtClean="0"/>
              <a:t>st</a:t>
            </a:r>
            <a:r>
              <a:rPr lang="en-US" sz="3600" dirty="0" smtClean="0"/>
              <a:t>  day: Scrum Overview</a:t>
            </a:r>
          </a:p>
          <a:p>
            <a:r>
              <a:rPr lang="en-US" sz="3600" dirty="0" smtClean="0"/>
              <a:t>2</a:t>
            </a:r>
            <a:r>
              <a:rPr lang="en-US" sz="3600" baseline="30000" dirty="0" smtClean="0"/>
              <a:t>nd</a:t>
            </a:r>
            <a:r>
              <a:rPr lang="en-US" sz="3600" dirty="0" smtClean="0"/>
              <a:t> day: Scrum Roles and Scrum Artifacts</a:t>
            </a:r>
          </a:p>
          <a:p>
            <a:r>
              <a:rPr lang="en-US" sz="3600" dirty="0" smtClean="0"/>
              <a:t>3</a:t>
            </a:r>
            <a:r>
              <a:rPr lang="en-US" sz="3600" baseline="30000" dirty="0" smtClean="0"/>
              <a:t>rd</a:t>
            </a:r>
            <a:r>
              <a:rPr lang="en-US" sz="3600" dirty="0" smtClean="0"/>
              <a:t> day: Scrum Events and Estimation </a:t>
            </a:r>
            <a:endParaRPr lang="en-US" sz="3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1077</Words>
  <Application>Microsoft Office PowerPoint</Application>
  <PresentationFormat>On-screen Show (4:3)</PresentationFormat>
  <Paragraphs>202</Paragraphs>
  <Slides>22</Slides>
  <Notes>14</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What is Agile and Scrum?</vt:lpstr>
      <vt:lpstr>What is Agile?</vt:lpstr>
      <vt:lpstr>Agile manifesto</vt:lpstr>
      <vt:lpstr>Agile principles</vt:lpstr>
      <vt:lpstr>Iterative vs. Waterfall</vt:lpstr>
      <vt:lpstr>Iterative vs. Waterfall</vt:lpstr>
      <vt:lpstr>Code vs. Documentation</vt:lpstr>
      <vt:lpstr>Agile methods </vt:lpstr>
      <vt:lpstr>The Benefits of Agile Software Development</vt:lpstr>
      <vt:lpstr>The Business Benefits of Agile</vt:lpstr>
      <vt:lpstr>What is Scrum? </vt:lpstr>
      <vt:lpstr>What is Scrum? </vt:lpstr>
      <vt:lpstr>Why Scrum?</vt:lpstr>
      <vt:lpstr>Scrum vs. Traditionnel Project Management</vt:lpstr>
      <vt:lpstr>Scrum has been used by</vt:lpstr>
      <vt:lpstr>                            Scrum framework</vt:lpstr>
      <vt:lpstr>Roles</vt:lpstr>
      <vt:lpstr>Scrum Events</vt:lpstr>
      <vt:lpstr>Artifacts</vt:lpstr>
      <vt:lpstr>Slide 20</vt:lpstr>
      <vt:lpstr>“Scrum is kind of like poker; you can learn the rules in 10 minutes, but it takes a long time to get great at it.”</vt:lpstr>
      <vt:lpstr>Agile Scrum Content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Roles</dc:title>
  <dc:creator/>
  <cp:lastModifiedBy>Ashish GC</cp:lastModifiedBy>
  <cp:revision>48</cp:revision>
  <dcterms:created xsi:type="dcterms:W3CDTF">2006-08-16T00:00:00Z</dcterms:created>
  <dcterms:modified xsi:type="dcterms:W3CDTF">2019-01-22T12:11:00Z</dcterms:modified>
</cp:coreProperties>
</file>